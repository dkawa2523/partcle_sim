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06DA3"/>
                </a:solidFill>
                <a:latin typeface="Yu Gothic"/>
              </a:rPr>
              <a:t>チャンバー内コンタミ粒子 軌道計算ソルバー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96112"/>
            <a:ext cx="11064240" cy="27432"/>
          </a:xfrm>
          <a:prstGeom prst="rect">
            <a:avLst/>
          </a:prstGeom>
          <a:solidFill>
            <a:srgbClr val="006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98755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A0A0A"/>
                </a:solidFill>
                <a:latin typeface="Yu Gothic"/>
              </a:rPr>
              <a:t>COMSOL連携・独自実装・投資判断用サマリー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4069080" cy="43891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6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645920"/>
            <a:ext cx="3474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06DA3"/>
                </a:solidFill>
                <a:latin typeface="Yu Gothic"/>
              </a:rPr>
              <a:t>本資料の狙い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993392"/>
            <a:ext cx="3474720" cy="29718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0A0A0A"/>
                </a:solidFill>
                <a:latin typeface="Yu Gothic"/>
              </a:rPr>
              <a:t>本コードの機能・独自性・設計思想を第三者に理解してもらう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0A0A0A"/>
                </a:solidFill>
                <a:latin typeface="Yu Gothic"/>
              </a:rPr>
              <a:t>COMSOL比較で何が難しく、どこを改良すべきかを整理する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0A0A0A"/>
                </a:solidFill>
                <a:latin typeface="Yu Gothic"/>
              </a:rPr>
              <a:t>既存実装を活かして開発継続すべきかを判断しやすくする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5120640"/>
            <a:ext cx="960120" cy="310896"/>
          </a:xfrm>
          <a:prstGeom prst="roundRect">
            <a:avLst/>
          </a:prstGeom>
          <a:solidFill>
            <a:srgbClr val="F5FAFF"/>
          </a:solidFill>
          <a:ln w="15240">
            <a:solidFill>
              <a:srgbClr val="19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1964B4"/>
                </a:solidFill>
                <a:latin typeface="Yu Gothic"/>
              </a:rPr>
              <a:t>独自実装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92224" y="5120640"/>
            <a:ext cx="1261872" cy="310896"/>
          </a:xfrm>
          <a:prstGeom prst="roundRect">
            <a:avLst/>
          </a:prstGeom>
          <a:solidFill>
            <a:srgbClr val="F8FFF8"/>
          </a:solidFill>
          <a:ln w="15240">
            <a:solidFill>
              <a:srgbClr val="348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348E3E"/>
                </a:solidFill>
                <a:latin typeface="Yu Gothic"/>
              </a:rPr>
              <a:t>複数モデル切替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91256" y="5120640"/>
            <a:ext cx="868680" cy="310896"/>
          </a:xfrm>
          <a:prstGeom prst="roundRect">
            <a:avLst/>
          </a:prstGeom>
          <a:solidFill>
            <a:srgbClr val="FFFAF4"/>
          </a:solidFill>
          <a:ln w="15240">
            <a:solidFill>
              <a:srgbClr val="E98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E98014"/>
                </a:solidFill>
                <a:latin typeface="Yu Gothic"/>
              </a:rPr>
              <a:t>検証可能</a:t>
            </a:r>
          </a:p>
        </p:txBody>
      </p:sp>
      <p:pic>
        <p:nvPicPr>
          <p:cNvPr id="11" name="Picture 10" descr="a_clean_technical_illustration_cutaway_diagram_of_6_batch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325880"/>
            <a:ext cx="6903720" cy="51663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1480" y="644652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Yu Gothic"/>
              </a:rPr>
              <a:t>partcle_sim / sim_rev2 technical decision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06DA3"/>
                </a:solidFill>
                <a:latin typeface="Yu Gothic"/>
              </a:rPr>
              <a:t>投資判断サマリー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96112"/>
            <a:ext cx="11064240" cy="27432"/>
          </a:xfrm>
          <a:prstGeom prst="rect">
            <a:avLst/>
          </a:prstGeom>
          <a:solidFill>
            <a:srgbClr val="006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98755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A0A0A"/>
                </a:solidFill>
                <a:latin typeface="Yu Gothic"/>
              </a:rPr>
              <a:t>結論を先に示し、以降で技術的な根拠を説明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2377440" cy="1051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9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1964B4"/>
                </a:solidFill>
                <a:latin typeface="Yu Gothic"/>
              </a:rPr>
              <a:t>43,349 LOC</a:t>
            </a:r>
          </a:p>
          <a:p>
            <a:pPr algn="ctr"/>
            <a:r>
              <a:rPr sz="1400" b="0">
                <a:solidFill>
                  <a:srgbClr val="0A0A0A"/>
                </a:solidFill>
                <a:latin typeface="Yu Gothic"/>
              </a:rPr>
              <a:t>総コード量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1325880"/>
            <a:ext cx="2011680" cy="1051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348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348E3E"/>
                </a:solidFill>
                <a:latin typeface="Yu Gothic"/>
              </a:rPr>
              <a:t>131</a:t>
            </a:r>
          </a:p>
          <a:p>
            <a:pPr algn="ctr"/>
            <a:r>
              <a:rPr sz="1400" b="0">
                <a:solidFill>
                  <a:srgbClr val="0A0A0A"/>
                </a:solidFill>
                <a:latin typeface="Yu Gothic"/>
              </a:rPr>
              <a:t>ファイル数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40680" y="1325880"/>
            <a:ext cx="2468880" cy="1051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E98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E98014"/>
                </a:solidFill>
                <a:latin typeface="Yu Gothic"/>
              </a:rPr>
              <a:t>8.8–16.0 人月</a:t>
            </a:r>
          </a:p>
          <a:p>
            <a:pPr algn="ctr"/>
            <a:r>
              <a:rPr sz="1400" b="0">
                <a:solidFill>
                  <a:srgbClr val="0A0A0A"/>
                </a:solidFill>
                <a:latin typeface="Yu Gothic"/>
              </a:rPr>
              <a:t>現状実装工数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1325880"/>
            <a:ext cx="2743200" cy="1051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6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006DA3"/>
                </a:solidFill>
                <a:latin typeface="Yu Gothic"/>
              </a:rPr>
              <a:t>作り直しではなく強化</a:t>
            </a:r>
          </a:p>
          <a:p>
            <a:pPr algn="ctr"/>
            <a:r>
              <a:rPr sz="1400" b="0">
                <a:solidFill>
                  <a:srgbClr val="0A0A0A"/>
                </a:solidFill>
                <a:latin typeface="Yu Gothic"/>
              </a:rPr>
              <a:t>推奨方針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697480"/>
            <a:ext cx="5349240" cy="3063240"/>
          </a:xfrm>
          <a:prstGeom prst="roundRect">
            <a:avLst/>
          </a:prstGeom>
          <a:solidFill>
            <a:srgbClr val="FCFCFC"/>
          </a:solidFill>
          <a:ln w="17780">
            <a:solidFill>
              <a:srgbClr val="19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50800"/>
          <a:lstStyle/>
          <a:p>
            <a:pPr algn="ctr"/>
            <a:r>
              <a:rPr sz="1800" b="1">
                <a:solidFill>
                  <a:srgbClr val="1964B4"/>
                </a:solidFill>
                <a:latin typeface="Yu Gothic"/>
              </a:rPr>
              <a:t>判断ポイント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" y="3118104"/>
            <a:ext cx="5129784" cy="182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088" y="3118104"/>
            <a:ext cx="5129784" cy="18288"/>
          </a:xfrm>
          <a:prstGeom prst="rect">
            <a:avLst/>
          </a:prstGeom>
          <a:solidFill>
            <a:srgbClr val="19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3227832"/>
            <a:ext cx="5129784" cy="2459736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0A0A0A"/>
                </a:solidFill>
                <a:latin typeface="Yu Gothic"/>
              </a:rPr>
              <a:t>既製ライブラリの寄せ集めではなく、場補間・粒子追跡・壁衝突・COMSOL比較を独自実装している。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0A0A0A"/>
                </a:solidFill>
                <a:latin typeface="Yu Gothic"/>
              </a:rPr>
              <a:t>複数理論・モデルを切り替えながら、対象装置に合わせて精度を詰められる。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0A0A0A"/>
                </a:solidFill>
                <a:latin typeface="Yu Gothic"/>
              </a:rPr>
              <a:t>すでに比較基盤まで出来ているため、今後の投資は「ゼロから作る」より「差分を潰す」方向が合理的。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697480"/>
            <a:ext cx="5440680" cy="3063240"/>
          </a:xfrm>
          <a:prstGeom prst="roundRect">
            <a:avLst/>
          </a:prstGeom>
          <a:solidFill>
            <a:srgbClr val="FCFCFC"/>
          </a:solidFill>
          <a:ln w="17780">
            <a:solidFill>
              <a:srgbClr val="348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50800"/>
          <a:lstStyle/>
          <a:p>
            <a:pPr algn="ctr"/>
            <a:r>
              <a:rPr sz="1800" b="1">
                <a:solidFill>
                  <a:srgbClr val="348E3E"/>
                </a:solidFill>
                <a:latin typeface="Yu Gothic"/>
              </a:rPr>
              <a:t>意思決定メッセージ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6208" y="3118104"/>
            <a:ext cx="5221224" cy="182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3118104"/>
            <a:ext cx="5221224" cy="18288"/>
          </a:xfrm>
          <a:prstGeom prst="rect">
            <a:avLst/>
          </a:prstGeom>
          <a:solidFill>
            <a:srgbClr val="348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3227832"/>
            <a:ext cx="5221224" cy="2459736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0A0A0A"/>
                </a:solidFill>
                <a:latin typeface="Yu Gothic"/>
              </a:rPr>
              <a:t>0–3か月: COMSOL faithful比較を重点実施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0A0A0A"/>
                </a:solidFill>
                <a:latin typeface="Yu Gothic"/>
              </a:rPr>
              <a:t>3–6か月: 対象チャンバー条件でPoC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0A0A0A"/>
                </a:solidFill>
                <a:latin typeface="Yu Gothic"/>
              </a:rPr>
              <a:t>6–12か月: near-wall・帯電・追加物理を含めて運用化判断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4652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Yu Gothic"/>
              </a:rPr>
              <a:t>partcle_sim / sim_rev2 technical decision deck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06DA3"/>
                </a:solidFill>
                <a:latin typeface="Yu Gothic"/>
              </a:rPr>
              <a:t>コードが解く問題と全体アーキテクチャ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96112"/>
            <a:ext cx="11064240" cy="27432"/>
          </a:xfrm>
          <a:prstGeom prst="rect">
            <a:avLst/>
          </a:prstGeom>
          <a:solidFill>
            <a:srgbClr val="006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98755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A0A0A"/>
                </a:solidFill>
                <a:latin typeface="Yu Gothic"/>
              </a:rPr>
              <a:t>発生粒子そのものではなく、外部場・ジオメトリを受けた粒子軌道を解く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3063240" cy="1508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>
                <a:solidFill>
                  <a:srgbClr val="0A0A0A"/>
                </a:solidFill>
                <a:latin typeface="Yu Gothic"/>
              </a:rPr>
              <a:t>入力: COMSOL等の場データ、ジオメトリ、粒子初期条件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>
                <a:solidFill>
                  <a:srgbClr val="0A0A0A"/>
                </a:solidFill>
                <a:latin typeface="Yu Gothic"/>
              </a:rPr>
              <a:t>計算: 粒子追跡、壁衝突、各種力モデルの合成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>
                <a:solidFill>
                  <a:srgbClr val="0A0A0A"/>
                </a:solidFill>
                <a:latin typeface="Yu Gothic"/>
              </a:rPr>
              <a:t>出力: 軌道、壁イベント、COMSOL比較</a:t>
            </a:r>
          </a:p>
        </p:txBody>
      </p:sp>
      <p:pic>
        <p:nvPicPr>
          <p:cNvPr id="6" name="Picture 5" descr="a_clean_infographic_diagram_on_a_white_background_1_batch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371600"/>
            <a:ext cx="8092440" cy="4526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4663440"/>
            <a:ext cx="23317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06DA3"/>
                </a:solidFill>
                <a:latin typeface="Yu Gothic"/>
              </a:rPr>
              <a:t>重要ポイント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956048"/>
            <a:ext cx="2377440" cy="10972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0A0A0A"/>
                </a:solidFill>
                <a:latin typeface="Yu Gothic"/>
              </a:rPr>
              <a:t>COMSOL本体に依存しない実行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0A0A0A"/>
                </a:solidFill>
                <a:latin typeface="Yu Gothic"/>
              </a:rPr>
              <a:t>粒子軌道専用の高忠実ソルバー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0A0A0A"/>
                </a:solidFill>
                <a:latin typeface="Yu Gothic"/>
              </a:rPr>
              <a:t>比較可能な出力構造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Yu Gothic"/>
              </a:rPr>
              <a:t>partcle_sim / sim_rev2 technical decision deck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06DA3"/>
                </a:solidFill>
                <a:latin typeface="Yu Gothic"/>
              </a:rPr>
              <a:t>なぜ「ありもの」で済まないか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96112"/>
            <a:ext cx="11064240" cy="27432"/>
          </a:xfrm>
          <a:prstGeom prst="rect">
            <a:avLst/>
          </a:prstGeom>
          <a:solidFill>
            <a:srgbClr val="006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98755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A0A0A"/>
                </a:solidFill>
                <a:latin typeface="Yu Gothic"/>
              </a:rPr>
              <a:t>本レポの強みは、理論・モデルの切替と比較基盤を同時に持っている点</a:t>
            </a:r>
          </a:p>
        </p:txBody>
      </p:sp>
      <p:pic>
        <p:nvPicPr>
          <p:cNvPr id="5" name="Picture 4" descr="a_clean_corporate_presentation_slide_infographic_2_batch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8138160" cy="47091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869680" y="1481328"/>
            <a:ext cx="2651760" cy="4343400"/>
          </a:xfrm>
          <a:prstGeom prst="roundRect">
            <a:avLst/>
          </a:prstGeom>
          <a:solidFill>
            <a:srgbClr val="FCFCFC"/>
          </a:solidFill>
          <a:ln w="17780">
            <a:solidFill>
              <a:srgbClr val="348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50800"/>
          <a:lstStyle/>
          <a:p>
            <a:pPr algn="ctr"/>
            <a:r>
              <a:rPr sz="1800" b="1">
                <a:solidFill>
                  <a:srgbClr val="348E3E"/>
                </a:solidFill>
                <a:latin typeface="Yu Gothic"/>
              </a:rPr>
              <a:t>第三者向けの意味</a:t>
            </a:r>
          </a:p>
        </p:txBody>
      </p:sp>
      <p:sp>
        <p:nvSpPr>
          <p:cNvPr id="7" name="Rectangle 6"/>
          <p:cNvSpPr/>
          <p:nvPr/>
        </p:nvSpPr>
        <p:spPr>
          <a:xfrm>
            <a:off x="8979408" y="1901952"/>
            <a:ext cx="2432304" cy="182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79408" y="1901952"/>
            <a:ext cx="2432304" cy="18288"/>
          </a:xfrm>
          <a:prstGeom prst="rect">
            <a:avLst/>
          </a:prstGeom>
          <a:solidFill>
            <a:srgbClr val="348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79408" y="2011680"/>
            <a:ext cx="2432304" cy="3739896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0A0A0A"/>
                </a:solidFill>
                <a:latin typeface="Yu Gothic"/>
              </a:rPr>
              <a:t>対象チャンバー・圧力領域・壁条件に応じてモデルを切り替えられる。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0A0A0A"/>
                </a:solidFill>
                <a:latin typeface="Yu Gothic"/>
              </a:rPr>
              <a:t>COMSOLと差が出たときに、「どのモデル差が原因か」を切り分けやすい。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0A0A0A"/>
                </a:solidFill>
                <a:latin typeface="Yu Gothic"/>
              </a:rPr>
              <a:t>将来の追加物理（帯電・壁近傍・再放出）も拡張しやすい。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4652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Yu Gothic"/>
              </a:rPr>
              <a:t>partcle_sim / sim_rev2 technical decision deck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06DA3"/>
                </a:solidFill>
                <a:latin typeface="Yu Gothic"/>
              </a:rPr>
              <a:t>基本方程式と数値計算法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96112"/>
            <a:ext cx="11064240" cy="27432"/>
          </a:xfrm>
          <a:prstGeom prst="rect">
            <a:avLst/>
          </a:prstGeom>
          <a:solidFill>
            <a:srgbClr val="006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98755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A0A0A"/>
                </a:solidFill>
                <a:latin typeface="Yu Gothic"/>
              </a:rPr>
              <a:t>微粒子では抗力緩和時間が小さく、積分法の設計が精度を左右する</a:t>
            </a:r>
          </a:p>
        </p:txBody>
      </p:sp>
      <p:pic>
        <p:nvPicPr>
          <p:cNvPr id="5" name="Picture 4" descr="a_clean_technical_infographic_slide_like_diagram_3_batch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0160"/>
            <a:ext cx="7863840" cy="45262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366760" y="1508760"/>
            <a:ext cx="2743200" cy="4160520"/>
          </a:xfrm>
          <a:prstGeom prst="roundRect">
            <a:avLst/>
          </a:prstGeom>
          <a:solidFill>
            <a:srgbClr val="FCFCFC"/>
          </a:solidFill>
          <a:ln w="17780">
            <a:solidFill>
              <a:srgbClr val="19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50800"/>
          <a:lstStyle/>
          <a:p>
            <a:pPr algn="ctr"/>
            <a:r>
              <a:rPr sz="1800" b="1">
                <a:solidFill>
                  <a:srgbClr val="1964B4"/>
                </a:solidFill>
                <a:latin typeface="Yu Gothic"/>
              </a:rPr>
              <a:t>読み取りポイント</a:t>
            </a:r>
          </a:p>
        </p:txBody>
      </p:sp>
      <p:sp>
        <p:nvSpPr>
          <p:cNvPr id="7" name="Rectangle 6"/>
          <p:cNvSpPr/>
          <p:nvPr/>
        </p:nvSpPr>
        <p:spPr>
          <a:xfrm>
            <a:off x="8476488" y="1929384"/>
            <a:ext cx="2523744" cy="182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76488" y="1929384"/>
            <a:ext cx="2523744" cy="18288"/>
          </a:xfrm>
          <a:prstGeom prst="rect">
            <a:avLst/>
          </a:prstGeom>
          <a:solidFill>
            <a:srgbClr val="19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76488" y="2039112"/>
            <a:ext cx="2523744" cy="3557016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0A0A0A"/>
                </a:solidFill>
                <a:latin typeface="Yu Gothic"/>
              </a:rPr>
              <a:t>粒子速度は抗力項 (u-v)/τ と電気力 qE/m、追加力 a_extra で決まる。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0A0A0A"/>
                </a:solidFill>
                <a:latin typeface="Yu Gothic"/>
              </a:rPr>
              <a:t>Stiffな抗力支配を考慮し、単純Eulerではなく drag_relaxation / ETD / ETD2 を使い分ける。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0A0A0A"/>
                </a:solidFill>
                <a:latin typeface="Yu Gothic"/>
              </a:rPr>
              <a:t>a_extra には gravity, Brownian, thermophoresis, DEP, lift などが入る。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4652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Yu Gothic"/>
              </a:rPr>
              <a:t>partcle_sim / sim_rev2 technical decision deck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06DA3"/>
                </a:solidFill>
                <a:latin typeface="Yu Gothic"/>
              </a:rPr>
              <a:t>主要機能カテゴリーと有用性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96112"/>
            <a:ext cx="11064240" cy="27432"/>
          </a:xfrm>
          <a:prstGeom prst="rect">
            <a:avLst/>
          </a:prstGeom>
          <a:solidFill>
            <a:srgbClr val="006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98755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A0A0A"/>
                </a:solidFill>
                <a:latin typeface="Yu Gothic"/>
              </a:rPr>
              <a:t>エンジニア視点で「何を調整できるか」を一覧化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17320"/>
          <a:ext cx="1106424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5029200"/>
                <a:gridCol w="4114800"/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A0A0A"/>
                          </a:solidFill>
                          <a:latin typeface="Yu Gothic"/>
                        </a:rPr>
                        <a:t>カテゴリ</a:t>
                      </a:r>
                    </a:p>
                  </a:txBody>
                  <a:tcPr marL="50800" marR="50800" marT="25400" marB="25400"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A0A0A"/>
                          </a:solidFill>
                          <a:latin typeface="Yu Gothic"/>
                        </a:rPr>
                        <a:t>主な選択肢・内容</a:t>
                      </a:r>
                    </a:p>
                  </a:txBody>
                  <a:tcPr marL="50800" marR="50800" marT="25400" marB="25400"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A0A0A"/>
                          </a:solidFill>
                          <a:latin typeface="Yu Gothic"/>
                        </a:rPr>
                        <a:t>第三者にとっての意味</a:t>
                      </a:r>
                    </a:p>
                  </a:txBody>
                  <a:tcPr marL="50800" marR="50800" marT="25400" marB="25400">
                    <a:solidFill>
                      <a:srgbClr val="E6F0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Yu Gothic"/>
                        </a:rPr>
                        <a:t>場バックエンド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Yu Gothic"/>
                        </a:rPr>
                        <a:t>regular grid / triangle mesh 2D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Yu Gothic"/>
                        </a:rPr>
                        <a:t>COMSOL由来の格子場・FEMメッシュ場の両方に対応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Yu Gothic"/>
                        </a:rPr>
                        <a:t>抗力モデル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Yu Gothic"/>
                        </a:rPr>
                        <a:t>Stokes / Cunningham / Schiller–Naumann / Epstein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Yu Gothic"/>
                        </a:rPr>
                        <a:t>連続体〜低圧・希薄流まで対象条件に応じて切替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Yu Gothic"/>
                        </a:rPr>
                        <a:t>追加力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Yu Gothic"/>
                        </a:rPr>
                        <a:t>electric / gravity / Brownian / thermophoresis / DEP / lift / pressure gradient / virtual mass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Yu Gothic"/>
                        </a:rPr>
                        <a:t>何が支配的かを条件別に比較できる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Yu Gothic"/>
                        </a:rPr>
                        <a:t>壁モデル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Yu Gothic"/>
                        </a:rPr>
                        <a:t>stick / absorb / escape / specular / diffuse / mixed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Yu Gothic"/>
                        </a:rPr>
                        <a:t>付着・反射・排気など現実の壁挙動に近づけやすい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Yu Gothic"/>
                        </a:rPr>
                        <a:t>source law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Yu Gothic"/>
                        </a:rPr>
                        <a:t>explicit_csv / flake escape / burst / resuspension / thermal reemission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Yu Gothic"/>
                        </a:rPr>
                        <a:t>発塵・再飛散・再放出などの仮説を試せる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85800" y="4983480"/>
            <a:ext cx="5029200" cy="1024128"/>
          </a:xfrm>
          <a:prstGeom prst="roundRect">
            <a:avLst/>
          </a:prstGeom>
          <a:solidFill>
            <a:srgbClr val="FCFCFC"/>
          </a:solidFill>
          <a:ln w="17780">
            <a:solidFill>
              <a:srgbClr val="006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50800"/>
          <a:lstStyle/>
          <a:p>
            <a:pPr algn="ctr"/>
            <a:r>
              <a:rPr sz="1800" b="1">
                <a:solidFill>
                  <a:srgbClr val="006DA3"/>
                </a:solidFill>
                <a:latin typeface="Yu Gothic"/>
              </a:rPr>
              <a:t>この設計の価値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8" y="5404104"/>
            <a:ext cx="4809744" cy="182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5528" y="5404104"/>
            <a:ext cx="4809744" cy="18288"/>
          </a:xfrm>
          <a:prstGeom prst="rect">
            <a:avLst/>
          </a:prstGeom>
          <a:solidFill>
            <a:srgbClr val="006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5513832"/>
            <a:ext cx="4809744" cy="420624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0A0A0A"/>
                </a:solidFill>
                <a:latin typeface="Yu Gothic"/>
              </a:rPr>
              <a:t>「1つのモデルで全条件を説明する」のではなく、対象装置に合わせてモデルを使い分けられる。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4983480"/>
            <a:ext cx="5166360" cy="1024128"/>
          </a:xfrm>
          <a:prstGeom prst="roundRect">
            <a:avLst/>
          </a:prstGeom>
          <a:solidFill>
            <a:srgbClr val="FCFCFC"/>
          </a:solidFill>
          <a:ln w="17780">
            <a:solidFill>
              <a:srgbClr val="348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50800"/>
          <a:lstStyle/>
          <a:p>
            <a:pPr algn="ctr"/>
            <a:r>
              <a:rPr sz="1800" b="1">
                <a:solidFill>
                  <a:srgbClr val="348E3E"/>
                </a:solidFill>
                <a:latin typeface="Yu Gothic"/>
              </a:rPr>
              <a:t>比較時の強み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9048" y="5404104"/>
            <a:ext cx="4946904" cy="182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9048" y="5404104"/>
            <a:ext cx="4946904" cy="18288"/>
          </a:xfrm>
          <a:prstGeom prst="rect">
            <a:avLst/>
          </a:prstGeom>
          <a:solidFill>
            <a:srgbClr val="348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9048" y="5513832"/>
            <a:ext cx="4946904" cy="420624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0A0A0A"/>
                </a:solidFill>
                <a:latin typeface="Yu Gothic"/>
              </a:rPr>
              <a:t>COMSOLとの差が出ても、入力条件・力モデル・壁条件のどこが原因かを論理的に絞り込める。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4652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Yu Gothic"/>
              </a:rPr>
              <a:t>partcle_sim / sim_rev2 technical decision deck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06DA3"/>
                </a:solidFill>
                <a:latin typeface="Yu Gothic"/>
              </a:rPr>
              <a:t>COMSOL連携: manifest-first設計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96112"/>
            <a:ext cx="11064240" cy="27432"/>
          </a:xfrm>
          <a:prstGeom prst="rect">
            <a:avLst/>
          </a:prstGeom>
          <a:solidFill>
            <a:srgbClr val="006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98755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A0A0A"/>
                </a:solidFill>
                <a:latin typeface="Yu Gothic"/>
              </a:rPr>
              <a:t>「何を一致させるか」を先に定義してから比較する設計</a:t>
            </a:r>
          </a:p>
        </p:txBody>
      </p:sp>
      <p:pic>
        <p:nvPicPr>
          <p:cNvPr id="5" name="Picture 4" descr="a_clean_corporate_slide_infographic_diagram_on_a_4_batch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371600"/>
            <a:ext cx="7909560" cy="45262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549640" y="1508760"/>
            <a:ext cx="2743200" cy="4206240"/>
          </a:xfrm>
          <a:prstGeom prst="roundRect">
            <a:avLst/>
          </a:prstGeom>
          <a:solidFill>
            <a:srgbClr val="FCFCFC"/>
          </a:solidFill>
          <a:ln w="17780">
            <a:solidFill>
              <a:srgbClr val="E98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50800"/>
          <a:lstStyle/>
          <a:p>
            <a:pPr algn="ctr"/>
            <a:r>
              <a:rPr sz="1800" b="1">
                <a:solidFill>
                  <a:srgbClr val="E98014"/>
                </a:solidFill>
                <a:latin typeface="Yu Gothic"/>
              </a:rPr>
              <a:t>第三者向けの理解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659368" y="1929384"/>
            <a:ext cx="2523744" cy="182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59368" y="1929384"/>
            <a:ext cx="2523744" cy="18288"/>
          </a:xfrm>
          <a:prstGeom prst="rect">
            <a:avLst/>
          </a:prstGeom>
          <a:solidFill>
            <a:srgbClr val="E98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59368" y="2039112"/>
            <a:ext cx="2523744" cy="3602736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0A0A0A"/>
                </a:solidFill>
                <a:latin typeface="Yu Gothic"/>
              </a:rPr>
              <a:t>COMSOLモデルをそのまま読むのではなく、exporterとmanifestで比較契約を明文化する。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0A0A0A"/>
                </a:solidFill>
                <a:latin typeface="Yu Gothic"/>
              </a:rPr>
              <a:t>release条件、boundary map / wall law、force inventory を固定して比較土台を作る。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0A0A0A"/>
                </a:solidFill>
                <a:latin typeface="Yu Gothic"/>
              </a:rPr>
              <a:t>この構造により、COMSOL以外のシミュレーション結果にも展開しやすい。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4652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Yu Gothic"/>
              </a:rPr>
              <a:t>partcle_sim / sim_rev2 technical decision deck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06DA3"/>
                </a:solidFill>
                <a:latin typeface="Yu Gothic"/>
              </a:rPr>
              <a:t>COMSOLと結果を合わせる上で難しいポイント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96112"/>
            <a:ext cx="11064240" cy="27432"/>
          </a:xfrm>
          <a:prstGeom prst="rect">
            <a:avLst/>
          </a:prstGeom>
          <a:solidFill>
            <a:srgbClr val="006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98755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A0A0A"/>
                </a:solidFill>
                <a:latin typeface="Yu Gothic"/>
              </a:rPr>
              <a:t>ソルバーを作るだけでは不十分で、入力契約・境界・比較基準の明文化が必要</a:t>
            </a:r>
          </a:p>
        </p:txBody>
      </p:sp>
      <p:pic>
        <p:nvPicPr>
          <p:cNvPr id="5" name="Picture 4" descr="a_clean_presentation_slide_infographic_style_ima_5_batch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298448"/>
            <a:ext cx="8138160" cy="47548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823960" y="1481328"/>
            <a:ext cx="2514600" cy="4480560"/>
          </a:xfrm>
          <a:prstGeom prst="roundRect">
            <a:avLst/>
          </a:prstGeom>
          <a:solidFill>
            <a:srgbClr val="FCFCFC"/>
          </a:solidFill>
          <a:ln w="17780">
            <a:solidFill>
              <a:srgbClr val="006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50800"/>
          <a:lstStyle/>
          <a:p>
            <a:pPr algn="ctr"/>
            <a:r>
              <a:rPr sz="1800" b="1">
                <a:solidFill>
                  <a:srgbClr val="006DA3"/>
                </a:solidFill>
                <a:latin typeface="Yu Gothic"/>
              </a:rPr>
              <a:t>実務での見方</a:t>
            </a:r>
          </a:p>
        </p:txBody>
      </p:sp>
      <p:sp>
        <p:nvSpPr>
          <p:cNvPr id="7" name="Rectangle 6"/>
          <p:cNvSpPr/>
          <p:nvPr/>
        </p:nvSpPr>
        <p:spPr>
          <a:xfrm>
            <a:off x="8933688" y="1901952"/>
            <a:ext cx="2295144" cy="182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33688" y="1901952"/>
            <a:ext cx="2295144" cy="18288"/>
          </a:xfrm>
          <a:prstGeom prst="rect">
            <a:avLst/>
          </a:prstGeom>
          <a:solidFill>
            <a:srgbClr val="006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33688" y="2011680"/>
            <a:ext cx="2295144" cy="3877056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0A0A0A"/>
                </a:solidFill>
                <a:latin typeface="Yu Gothic"/>
              </a:rPr>
              <a:t>座標スケールやrelease条件が少しずれるだけで軌道差が大きく見える。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0A0A0A"/>
                </a:solidFill>
                <a:latin typeface="Yu Gothic"/>
              </a:rPr>
              <a:t>boundary ID と wall law の対応が曖昧だと、壁イベント比較が成立しない。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0A0A0A"/>
                </a:solidFill>
                <a:latin typeface="Yu Gothic"/>
              </a:rPr>
              <a:t>near-wall挙動、dynamic charge、時間変化は今後の重要改良点。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4652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Yu Gothic"/>
              </a:rPr>
              <a:t>partcle_sim / sim_rev2 technical decision deck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06DA3"/>
                </a:solidFill>
                <a:latin typeface="Yu Gothic"/>
              </a:rPr>
              <a:t>現状の実装・検証状況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96112"/>
            <a:ext cx="11064240" cy="27432"/>
          </a:xfrm>
          <a:prstGeom prst="rect">
            <a:avLst/>
          </a:prstGeom>
          <a:solidFill>
            <a:srgbClr val="006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98755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A0A0A"/>
                </a:solidFill>
                <a:latin typeface="Yu Gothic"/>
              </a:rPr>
              <a:t>ICP系ケースを中心に、力モデル・壁挙動・COMSOL比較基盤を確認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1828800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9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1964B4"/>
                </a:solidFill>
                <a:latin typeface="Yu Gothic"/>
              </a:rPr>
              <a:t>C0–C6</a:t>
            </a:r>
          </a:p>
          <a:p>
            <a:pPr algn="ctr"/>
            <a:r>
              <a:rPr sz="1400" b="0">
                <a:solidFill>
                  <a:srgbClr val="0A0A0A"/>
                </a:solidFill>
                <a:latin typeface="Yu Gothic"/>
              </a:rPr>
              <a:t>検証ケース群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97480" y="1234440"/>
            <a:ext cx="1828800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348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348E3E"/>
                </a:solidFill>
                <a:latin typeface="Yu Gothic"/>
              </a:rPr>
              <a:t>300</a:t>
            </a:r>
          </a:p>
          <a:p>
            <a:pPr algn="ctr"/>
            <a:r>
              <a:rPr sz="1400" b="0">
                <a:solidFill>
                  <a:srgbClr val="0A0A0A"/>
                </a:solidFill>
                <a:latin typeface="Yu Gothic"/>
              </a:rPr>
              <a:t>粒子数例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234440"/>
            <a:ext cx="2103120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E98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E98014"/>
                </a:solidFill>
                <a:latin typeface="Yu Gothic"/>
              </a:rPr>
              <a:t>0 例あり</a:t>
            </a:r>
          </a:p>
          <a:p>
            <a:pPr algn="ctr"/>
            <a:r>
              <a:rPr sz="1400" b="0">
                <a:solidFill>
                  <a:srgbClr val="0A0A0A"/>
                </a:solidFill>
                <a:latin typeface="Yu Gothic"/>
              </a:rPr>
              <a:t>無効マスク停止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234440"/>
            <a:ext cx="2560320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6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006DA3"/>
                </a:solidFill>
                <a:latin typeface="Yu Gothic"/>
              </a:rPr>
              <a:t>drag / electric / wall</a:t>
            </a:r>
          </a:p>
          <a:p>
            <a:pPr algn="ctr"/>
            <a:r>
              <a:rPr sz="1400" b="0">
                <a:solidFill>
                  <a:srgbClr val="0A0A0A"/>
                </a:solidFill>
                <a:latin typeface="Yu Gothic"/>
              </a:rPr>
              <a:t>確認内容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2395728"/>
          <a:ext cx="1088136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840480"/>
                <a:gridCol w="4846320"/>
              </a:tblGrid>
              <a:tr h="4953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A0A0A"/>
                          </a:solidFill>
                          <a:latin typeface="Yu Gothic"/>
                        </a:rPr>
                        <a:t>項目</a:t>
                      </a:r>
                    </a:p>
                  </a:txBody>
                  <a:tcPr marL="50800" marR="50800" marT="25400" marB="25400"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A0A0A"/>
                          </a:solidFill>
                          <a:latin typeface="Yu Gothic"/>
                        </a:rPr>
                        <a:t>現状</a:t>
                      </a:r>
                    </a:p>
                  </a:txBody>
                  <a:tcPr marL="50800" marR="50800" marT="25400" marB="25400"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A0A0A"/>
                          </a:solidFill>
                          <a:latin typeface="Yu Gothic"/>
                        </a:rPr>
                        <a:t>読み取り方</a:t>
                      </a:r>
                    </a:p>
                  </a:txBody>
                  <a:tcPr marL="50800" marR="50800" marT="25400" marB="25400">
                    <a:solidFill>
                      <a:srgbClr val="E6F0F8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Yu Gothic"/>
                        </a:rPr>
                        <a:t>Release / 初期化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Yu Gothic"/>
                        </a:rPr>
                        <a:t>surface-origin粒子や初速条件を整理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Yu Gothic"/>
                        </a:rPr>
                        <a:t>初期条件再現の検証土台あり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Yu Gothic"/>
                        </a:rPr>
                        <a:t>力モデル差分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Yu Gothic"/>
                        </a:rPr>
                        <a:t>電場ON/OFF、電荷符号、drag law差を確認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Yu Gothic"/>
                        </a:rPr>
                        <a:t>どの力が軌道差を作るか見やすい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Yu Gothic"/>
                        </a:rPr>
                        <a:t>壁条件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Yu Gothic"/>
                        </a:rPr>
                        <a:t>stick壁などで壁イベント差を確認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Yu Gothic"/>
                        </a:rPr>
                        <a:t>どの壁に付着・反射したか追跡可能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Yu Gothic"/>
                        </a:rPr>
                        <a:t>診断出力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Yu Gothic"/>
                        </a:rPr>
                        <a:t>valid mask, wall event, active/stuck などを記録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Yu Gothic"/>
                        </a:rPr>
                        <a:t>結果説明に必要な中間情報がある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Yu Gothic"/>
                        </a:rPr>
                        <a:t>COMSOL faithful化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Yu Gothic"/>
                        </a:rPr>
                        <a:t>比較フローは整備済み、追加調整は継続中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Yu Gothic"/>
                        </a:rPr>
                        <a:t>今後は個別ケースで差分を詰める段階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31520" y="5504688"/>
            <a:ext cx="10607040" cy="384048"/>
          </a:xfrm>
          <a:prstGeom prst="roundRect">
            <a:avLst/>
          </a:prstGeom>
          <a:solidFill>
            <a:srgbClr val="F5FAFF"/>
          </a:solidFill>
          <a:ln w="15240">
            <a:solidFill>
              <a:srgbClr val="006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006DA3"/>
                </a:solidFill>
                <a:latin typeface="Yu Gothic"/>
              </a:rPr>
              <a:t>要点: 「動いた絵」ではなく、どの力・どの壁・どの比較条件で差が出たかを追跡できる実装になっている。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4652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Yu Gothic"/>
              </a:rPr>
              <a:t>partcle_sim / sim_rev2 technical decision deck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06DA3"/>
                </a:solidFill>
                <a:latin typeface="Yu Gothic"/>
              </a:rPr>
              <a:t>開発規模・工数・外注費の目安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96112"/>
            <a:ext cx="11064240" cy="27432"/>
          </a:xfrm>
          <a:prstGeom prst="rect">
            <a:avLst/>
          </a:prstGeom>
          <a:solidFill>
            <a:srgbClr val="006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98755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A0A0A"/>
                </a:solidFill>
                <a:latin typeface="Yu Gothic"/>
              </a:rPr>
              <a:t>ゼロからの作り直しは高コストであり、既存資産活用の方が合理的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444752"/>
          <a:ext cx="480060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50876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A0A0A"/>
                          </a:solidFill>
                          <a:latin typeface="Yu Gothic"/>
                        </a:rPr>
                        <a:t>作業区分</a:t>
                      </a:r>
                    </a:p>
                  </a:txBody>
                  <a:tcPr marL="50800" marR="50800" marT="25400" marB="25400"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A0A0A"/>
                          </a:solidFill>
                          <a:latin typeface="Yu Gothic"/>
                        </a:rPr>
                        <a:t>人月目安</a:t>
                      </a:r>
                    </a:p>
                  </a:txBody>
                  <a:tcPr marL="50800" marR="50800" marT="25400" marB="25400">
                    <a:solidFill>
                      <a:srgbClr val="E6F0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Yu Gothic"/>
                        </a:rPr>
                        <a:t>技術調査・基本設計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Yu Gothic"/>
                        </a:rPr>
                        <a:t>2.2–3.8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Yu Gothic"/>
                        </a:rPr>
                        <a:t>場・幾何・壁処理実装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Yu Gothic"/>
                        </a:rPr>
                        <a:t>2.5–4.8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Yu Gothic"/>
                        </a:rPr>
                        <a:t>力モデル・積分器実装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Yu Gothic"/>
                        </a:rPr>
                        <a:t>2.7–4.8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Yu Gothic"/>
                        </a:rPr>
                        <a:t>COMSOL連携・比較基盤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Yu Gothic"/>
                        </a:rPr>
                        <a:t>2.3–4.5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Yu Gothic"/>
                        </a:rPr>
                        <a:t>テスト・評価・文書化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Yu Gothic"/>
                        </a:rPr>
                        <a:t>1.1–2.1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Yu Gothic"/>
                        </a:rPr>
                        <a:t>合計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Yu Gothic"/>
                        </a:rPr>
                        <a:t>8.8–16.0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577840" y="1444752"/>
          <a:ext cx="553212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1417320"/>
                <a:gridCol w="1463040"/>
              </a:tblGrid>
              <a:tr h="58293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A0A0A"/>
                          </a:solidFill>
                          <a:latin typeface="Yu Gothic"/>
                        </a:rPr>
                        <a:t>外注体制</a:t>
                      </a:r>
                    </a:p>
                  </a:txBody>
                  <a:tcPr marL="50800" marR="50800" marT="25400" marB="25400"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A0A0A"/>
                          </a:solidFill>
                          <a:latin typeface="Yu Gothic"/>
                        </a:rPr>
                        <a:t>単価目安</a:t>
                      </a:r>
                    </a:p>
                  </a:txBody>
                  <a:tcPr marL="50800" marR="50800" marT="25400" marB="25400"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A0A0A"/>
                          </a:solidFill>
                          <a:latin typeface="Yu Gothic"/>
                        </a:rPr>
                        <a:t>費用感</a:t>
                      </a:r>
                    </a:p>
                  </a:txBody>
                  <a:tcPr marL="50800" marR="50800" marT="25400" marB="25400">
                    <a:solidFill>
                      <a:srgbClr val="E6F0F8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Yu Gothic"/>
                        </a:rPr>
                        <a:t>一般Python / データ処理中心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0A0A"/>
                          </a:solidFill>
                          <a:latin typeface="Yu Gothic"/>
                        </a:rPr>
                        <a:t>80–120万円 / 人月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0A0A"/>
                          </a:solidFill>
                          <a:latin typeface="Yu Gothic"/>
                        </a:rPr>
                        <a:t>約700–1,900万円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Yu Gothic"/>
                        </a:rPr>
                        <a:t>数値計算 + COMSOL経験者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0A0A"/>
                          </a:solidFill>
                          <a:latin typeface="Yu Gothic"/>
                        </a:rPr>
                        <a:t>150–250万円 / 人月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0A0A"/>
                          </a:solidFill>
                          <a:latin typeface="Yu Gothic"/>
                        </a:rPr>
                        <a:t>約1,300–4,000万円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Yu Gothic"/>
                        </a:rPr>
                        <a:t>ベンダー委託 + PM/QA込み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0A0A"/>
                          </a:solidFill>
                          <a:latin typeface="Yu Gothic"/>
                        </a:rPr>
                        <a:t>200–350万円 / 人月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0A0A"/>
                          </a:solidFill>
                          <a:latin typeface="Yu Gothic"/>
                        </a:rPr>
                        <a:t>約1,800–5,600万円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623560" y="3977639"/>
            <a:ext cx="5486400" cy="1783080"/>
          </a:xfrm>
          <a:prstGeom prst="roundRect">
            <a:avLst/>
          </a:prstGeom>
          <a:solidFill>
            <a:srgbClr val="FCFCFC"/>
          </a:solidFill>
          <a:ln w="17780">
            <a:solidFill>
              <a:srgbClr val="E98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50800"/>
          <a:lstStyle/>
          <a:p>
            <a:pPr algn="ctr"/>
            <a:r>
              <a:rPr sz="1800" b="1">
                <a:solidFill>
                  <a:srgbClr val="E98014"/>
                </a:solidFill>
                <a:latin typeface="Yu Gothic"/>
              </a:rPr>
              <a:t>読み解き</a:t>
            </a:r>
          </a:p>
        </p:txBody>
      </p:sp>
      <p:sp>
        <p:nvSpPr>
          <p:cNvPr id="8" name="Rectangle 7"/>
          <p:cNvSpPr/>
          <p:nvPr/>
        </p:nvSpPr>
        <p:spPr>
          <a:xfrm>
            <a:off x="5733288" y="4398263"/>
            <a:ext cx="5266944" cy="182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33288" y="4398263"/>
            <a:ext cx="5266944" cy="18288"/>
          </a:xfrm>
          <a:prstGeom prst="rect">
            <a:avLst/>
          </a:prstGeom>
          <a:solidFill>
            <a:srgbClr val="E98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33288" y="4507991"/>
            <a:ext cx="5266944" cy="1179576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0A0A0A"/>
                </a:solidFill>
                <a:latin typeface="Yu Gothic"/>
              </a:rPr>
              <a:t>この規模を一から外注で再現するだけでも、少なく見て1,000万円級、専門性を正しく積むと数千万円規模になる。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0A0A0A"/>
                </a:solidFill>
                <a:latin typeface="Yu Gothic"/>
              </a:rPr>
              <a:t>したがって、今やるべきは「作り直し」より「対象ケースへの合わせ込み」と「検証自動化」。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4652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Yu Gothic"/>
              </a:rPr>
              <a:t>partcle_sim / sim_rev2 technical decision deck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06DA3"/>
                </a:solidFill>
                <a:latin typeface="Yu Gothic"/>
              </a:rPr>
              <a:t>推奨ロードマップ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96112"/>
            <a:ext cx="11064240" cy="27432"/>
          </a:xfrm>
          <a:prstGeom prst="rect">
            <a:avLst/>
          </a:prstGeom>
          <a:solidFill>
            <a:srgbClr val="006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98755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A0A0A"/>
                </a:solidFill>
                <a:latin typeface="Yu Gothic"/>
              </a:rPr>
              <a:t>比較・検証中心で前進し、段階的に運用可否を判断する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2743200" cy="13258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9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964B4"/>
                </a:solidFill>
                <a:latin typeface="Yu Gothic"/>
              </a:rPr>
              <a:t>0–3か月</a:t>
            </a:r>
          </a:p>
          <a:p>
            <a:pPr algn="ctr"/>
            <a:r>
              <a:rPr sz="1400" b="0">
                <a:solidFill>
                  <a:srgbClr val="0A0A0A"/>
                </a:solidFill>
                <a:latin typeface="Yu Gothic"/>
              </a:rPr>
              <a:t>COMSOL faithful比較
対象ケースで比較条件を固定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566160" y="2084831"/>
            <a:ext cx="411480" cy="320040"/>
          </a:xfrm>
          <a:prstGeom prst="rightArrow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069080" y="1645920"/>
            <a:ext cx="2743200" cy="13258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348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348E3E"/>
                </a:solidFill>
                <a:latin typeface="Yu Gothic"/>
              </a:rPr>
              <a:t>3–6か月</a:t>
            </a:r>
          </a:p>
          <a:p>
            <a:pPr algn="ctr"/>
            <a:r>
              <a:rPr sz="1400" b="0">
                <a:solidFill>
                  <a:srgbClr val="0A0A0A"/>
                </a:solidFill>
                <a:latin typeface="Yu Gothic"/>
              </a:rPr>
              <a:t>実機条件PoC
near-wall・帯電の優先度判断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949440" y="2084831"/>
            <a:ext cx="411480" cy="320040"/>
          </a:xfrm>
          <a:prstGeom prst="rightArrow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52360" y="1645920"/>
            <a:ext cx="2743200" cy="13258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E98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E98014"/>
                </a:solidFill>
                <a:latin typeface="Yu Gothic"/>
              </a:rPr>
              <a:t>6–12か月</a:t>
            </a:r>
          </a:p>
          <a:p>
            <a:pPr algn="ctr"/>
            <a:r>
              <a:rPr sz="1400" b="0">
                <a:solidFill>
                  <a:srgbClr val="0A0A0A"/>
                </a:solidFill>
                <a:latin typeface="Yu Gothic"/>
              </a:rPr>
              <a:t>運用化判断
追加物理・受入基準・ベンチマーク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77240" y="3429000"/>
          <a:ext cx="1069848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8046720"/>
              </a:tblGrid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A0A0A"/>
                          </a:solidFill>
                          <a:latin typeface="Yu Gothic"/>
                        </a:rPr>
                        <a:t>優先項目</a:t>
                      </a:r>
                    </a:p>
                  </a:txBody>
                  <a:tcPr marL="50800" marR="50800" marT="25400" marB="25400"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A0A0A"/>
                          </a:solidFill>
                          <a:latin typeface="Yu Gothic"/>
                        </a:rPr>
                        <a:t>狙い</a:t>
                      </a:r>
                    </a:p>
                  </a:txBody>
                  <a:tcPr marL="50800" marR="50800" marT="25400" marB="25400">
                    <a:solidFill>
                      <a:srgbClr val="E6F0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Yu Gothic"/>
                        </a:rPr>
                        <a:t>比較ケース拡張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Yu Gothic"/>
                        </a:rPr>
                        <a:t>release・field・boundary・trajectory・wall event差分を定量化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Yu Gothic"/>
                        </a:rPr>
                        <a:t>入力契約整備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Yu Gothic"/>
                        </a:rPr>
                        <a:t>座標・単位・manifest・wall law を案件ごとに標準化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Yu Gothic"/>
                        </a:rPr>
                        <a:t>追加物理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Yu Gothic"/>
                        </a:rPr>
                        <a:t>near-wall, dynamic charge, sheath / ion drag 等の優先度を判断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Yu Gothic"/>
                        </a:rPr>
                        <a:t>性能・受入基準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Yu Gothic"/>
                        </a:rPr>
                        <a:t>粒子数・計算時間・比較誤差の許容条件を明文化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1005840" y="5623560"/>
            <a:ext cx="10149840" cy="384048"/>
          </a:xfrm>
          <a:prstGeom prst="roundRect">
            <a:avLst/>
          </a:prstGeom>
          <a:solidFill>
            <a:srgbClr val="F5FAFF"/>
          </a:solidFill>
          <a:ln w="15240">
            <a:solidFill>
              <a:srgbClr val="006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1">
                <a:solidFill>
                  <a:srgbClr val="006DA3"/>
                </a:solidFill>
                <a:latin typeface="Yu Gothic"/>
              </a:rPr>
              <a:t>推奨: 既存実装を中核資産として活かし、COMSOL比較で差分要因を潰しながら改良を進める。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4652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Yu Gothic"/>
              </a:rPr>
              <a:t>partcle_sim / sim_rev2 technical decision deck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06DA3"/>
                </a:solidFill>
                <a:latin typeface="Yu Gothic"/>
              </a:rPr>
              <a:t>最終提言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96112"/>
            <a:ext cx="11064240" cy="27432"/>
          </a:xfrm>
          <a:prstGeom prst="rect">
            <a:avLst/>
          </a:prstGeom>
          <a:solidFill>
            <a:srgbClr val="006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98755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A0A0A"/>
                </a:solidFill>
                <a:latin typeface="Yu Gothic"/>
              </a:rPr>
              <a:t>開発エンジニアとシミュレーションエンジニアが進めやすい判断軸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3520440" cy="4343400"/>
          </a:xfrm>
          <a:prstGeom prst="roundRect">
            <a:avLst/>
          </a:prstGeom>
          <a:solidFill>
            <a:srgbClr val="FCFCFC"/>
          </a:solidFill>
          <a:ln w="17780">
            <a:solidFill>
              <a:srgbClr val="19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50800"/>
          <a:lstStyle/>
          <a:p>
            <a:pPr algn="ctr"/>
            <a:r>
              <a:rPr sz="1800" b="1">
                <a:solidFill>
                  <a:srgbClr val="1964B4"/>
                </a:solidFill>
                <a:latin typeface="Yu Gothic"/>
              </a:rPr>
              <a:t>なぜ進める価値があるか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837944"/>
            <a:ext cx="3300984" cy="182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837944"/>
            <a:ext cx="3300984" cy="18288"/>
          </a:xfrm>
          <a:prstGeom prst="rect">
            <a:avLst/>
          </a:prstGeom>
          <a:solidFill>
            <a:srgbClr val="19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47672"/>
            <a:ext cx="3300984" cy="3739896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0A0A0A"/>
                </a:solidFill>
                <a:latin typeface="Yu Gothic"/>
              </a:rPr>
              <a:t>粒子軌道・壁衝突・複数力モデル・COMSOL比較を一体で扱える。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0A0A0A"/>
                </a:solidFill>
                <a:latin typeface="Yu Gothic"/>
              </a:rPr>
              <a:t>対象装置に応じたモデル切替が可能で、説明責任を果たしやすい。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0A0A0A"/>
                </a:solidFill>
                <a:latin typeface="Yu Gothic"/>
              </a:rPr>
              <a:t>既存コード量・検証資産を捨てるのは費用対効果が低い。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17320"/>
            <a:ext cx="3520440" cy="4343400"/>
          </a:xfrm>
          <a:prstGeom prst="roundRect">
            <a:avLst/>
          </a:prstGeom>
          <a:solidFill>
            <a:srgbClr val="FCFCFC"/>
          </a:solidFill>
          <a:ln w="17780">
            <a:solidFill>
              <a:srgbClr val="348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50800"/>
          <a:lstStyle/>
          <a:p>
            <a:pPr algn="ctr"/>
            <a:r>
              <a:rPr sz="1800" b="1">
                <a:solidFill>
                  <a:srgbClr val="348E3E"/>
                </a:solidFill>
                <a:latin typeface="Yu Gothic"/>
              </a:rPr>
              <a:t>今後の技術課題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53128" y="1837944"/>
            <a:ext cx="3300984" cy="182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53128" y="1837944"/>
            <a:ext cx="3300984" cy="18288"/>
          </a:xfrm>
          <a:prstGeom prst="rect">
            <a:avLst/>
          </a:prstGeom>
          <a:solidFill>
            <a:srgbClr val="348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1947672"/>
            <a:ext cx="3300984" cy="3739896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0A0A0A"/>
                </a:solidFill>
                <a:latin typeface="Yu Gothic"/>
              </a:rPr>
              <a:t>座標・release・boundary map の厳密一致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0A0A0A"/>
                </a:solidFill>
                <a:latin typeface="Yu Gothic"/>
              </a:rPr>
              <a:t>valid mask と near-wall 挙動の改善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0A0A0A"/>
                </a:solidFill>
                <a:latin typeface="Yu Gothic"/>
              </a:rPr>
              <a:t>dynamic charge / 追加物理の拡張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0A0A0A"/>
                </a:solidFill>
                <a:latin typeface="Yu Gothic"/>
              </a:rPr>
              <a:t>受入基準とベンチマークの定着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1" y="1417320"/>
            <a:ext cx="3520440" cy="4343400"/>
          </a:xfrm>
          <a:prstGeom prst="roundRect">
            <a:avLst/>
          </a:prstGeom>
          <a:solidFill>
            <a:srgbClr val="FCFCFC"/>
          </a:solidFill>
          <a:ln w="17780">
            <a:solidFill>
              <a:srgbClr val="E98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50800"/>
          <a:lstStyle/>
          <a:p>
            <a:pPr algn="ctr"/>
            <a:r>
              <a:rPr sz="1800" b="1">
                <a:solidFill>
                  <a:srgbClr val="E98014"/>
                </a:solidFill>
                <a:latin typeface="Yu Gothic"/>
              </a:rPr>
              <a:t>推奨アクション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59" y="1837944"/>
            <a:ext cx="3300984" cy="182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59" y="1837944"/>
            <a:ext cx="3300984" cy="18288"/>
          </a:xfrm>
          <a:prstGeom prst="rect">
            <a:avLst/>
          </a:prstGeom>
          <a:solidFill>
            <a:srgbClr val="E98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59" y="1947672"/>
            <a:ext cx="3300984" cy="3739896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0A0A0A"/>
                </a:solidFill>
                <a:latin typeface="Yu Gothic"/>
              </a:rPr>
              <a:t>対象ケースを決めてCOMSOL faithful比較を開始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0A0A0A"/>
                </a:solidFill>
                <a:latin typeface="Yu Gothic"/>
              </a:rPr>
              <a:t>差分原因を1件ずつ記録し、改善優先度を付ける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0A0A0A"/>
                </a:solidFill>
                <a:latin typeface="Yu Gothic"/>
              </a:rPr>
              <a:t>3–6か月でPoC可否、6–12か月で運用可否を判断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5806440"/>
            <a:ext cx="10424160" cy="365760"/>
          </a:xfrm>
          <a:prstGeom prst="roundRect">
            <a:avLst/>
          </a:prstGeom>
          <a:solidFill>
            <a:srgbClr val="FFFBF5"/>
          </a:solidFill>
          <a:ln w="15240">
            <a:solidFill>
              <a:srgbClr val="E98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E98014"/>
                </a:solidFill>
                <a:latin typeface="Yu Gothic"/>
              </a:rPr>
              <a:t>結論: 本レポジトリは「今後の比較・改良の核」として十分な価値があり、作り直しではなく強化を前提に進めるのが合理的。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4652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Yu Gothic"/>
              </a:rPr>
              <a:t>partcle_sim / sim_rev2 technical decision deck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06DA3"/>
                </a:solidFill>
                <a:latin typeface="Yu Gothic"/>
              </a:rPr>
              <a:t>参考文献・調査対象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96112"/>
            <a:ext cx="11064240" cy="27432"/>
          </a:xfrm>
          <a:prstGeom prst="rect">
            <a:avLst/>
          </a:prstGeom>
          <a:solidFill>
            <a:srgbClr val="006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98755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A0A0A"/>
                </a:solidFill>
                <a:latin typeface="Yu Gothic"/>
              </a:rPr>
              <a:t>本PowerPointは以下の実装・文書・公開情報をもとに整理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515600" cy="192024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>
                <a:solidFill>
                  <a:srgbClr val="0A0A0A"/>
                </a:solidFill>
                <a:latin typeface="Yu Gothic"/>
              </a:rPr>
              <a:t>dkawa2523/partcle_sim, branch sim_rev2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>
                <a:solidFill>
                  <a:srgbClr val="0A0A0A"/>
                </a:solidFill>
                <a:latin typeface="Yu Gothic"/>
              </a:rPr>
              <a:t>docs/chamber_particle_tracing_technical_report.md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>
                <a:solidFill>
                  <a:srgbClr val="0A0A0A"/>
                </a:solidFill>
                <a:latin typeface="Yu Gothic"/>
              </a:rPr>
              <a:t>docs/icp_validation_third_party_report.md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>
                <a:solidFill>
                  <a:srgbClr val="0A0A0A"/>
                </a:solidFill>
                <a:latin typeface="Yu Gothic"/>
              </a:rPr>
              <a:t>particle_tracer_unified 配下の runtime_builder, high_fidelity_runtime, forces/registry, boundary_service 等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>
                <a:solidFill>
                  <a:srgbClr val="0A0A0A"/>
                </a:solidFill>
                <a:latin typeface="Yu Gothic"/>
              </a:rPr>
              <a:t>COMSOL Particle Tracing Module documentation / product information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>
                <a:solidFill>
                  <a:srgbClr val="0A0A0A"/>
                </a:solidFill>
                <a:latin typeface="Yu Gothic"/>
              </a:rPr>
              <a:t>外注費の目安: 国内フリーランス / ベンダー単価の一般的レンジ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657600"/>
            <a:ext cx="10561320" cy="19202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0A0A0A"/>
                </a:solidFill>
                <a:latin typeface="Yu Gothic"/>
              </a:rPr>
              <a:t>注記
・本資料の工数・費用は第三者視点での概算であり、対象範囲・品質基準・役割分担により変動する。
・COMSOLとの同精度化は現在も調整・改良中であり、本資料では「何が難所か」「今後どこを詰めるべきか」を重視して整理した。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06440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Yu Gothic"/>
              </a:rPr>
              <a:t>図版は本資料用に作成した概念図であり、PowerPointへ貼り付ける説明図として利用できるよう構成している。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Yu Gothic"/>
              </a:rPr>
              <a:t>partcle_sim / sim_rev2 technical decision deck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6DA3"/>
                </a:solidFill>
                <a:latin typeface="Yu Gothic"/>
              </a:rPr>
              <a:t>追加: 抗力モデル選択の理論背景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96112"/>
            <a:ext cx="11064240" cy="27432"/>
          </a:xfrm>
          <a:prstGeom prst="rect">
            <a:avLst/>
          </a:prstGeom>
          <a:solidFill>
            <a:srgbClr val="006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98755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A0A0A"/>
                </a:solidFill>
                <a:latin typeface="Yu Gothic"/>
              </a:rPr>
              <a:t>Knudsen数と粒子Reynolds数に応じて抗力緩和時間のモデルを切り替える</a:t>
            </a:r>
          </a:p>
        </p:txBody>
      </p:sp>
      <p:pic>
        <p:nvPicPr>
          <p:cNvPr id="5" name="Picture 4" descr="a_clean_educational_infographic_slide_diagram_whi_1_batch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6903720" cy="45262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635240" y="1417320"/>
            <a:ext cx="3657600" cy="21488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9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1800" b="1">
                <a:solidFill>
                  <a:srgbClr val="1964B4"/>
                </a:solidFill>
                <a:latin typeface="Yu Gothic"/>
              </a:rPr>
              <a:t>専門家向けメモ</a:t>
            </a:r>
          </a:p>
        </p:txBody>
      </p:sp>
      <p:sp>
        <p:nvSpPr>
          <p:cNvPr id="7" name="Rectangle 6"/>
          <p:cNvSpPr/>
          <p:nvPr/>
        </p:nvSpPr>
        <p:spPr>
          <a:xfrm>
            <a:off x="7744968" y="1837944"/>
            <a:ext cx="3438144" cy="18288"/>
          </a:xfrm>
          <a:prstGeom prst="rect">
            <a:avLst/>
          </a:prstGeom>
          <a:solidFill>
            <a:srgbClr val="19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44968" y="1947672"/>
            <a:ext cx="3438144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0">
                <a:solidFill>
                  <a:srgbClr val="0A0A0A"/>
                </a:solidFill>
                <a:latin typeface="Yu Gothic"/>
              </a:rPr>
              <a:t>Kn = λ / d_p,   Re_p = ρ_g |u-v| d_p / μ を基準に領域を判定する。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0">
                <a:solidFill>
                  <a:srgbClr val="0A0A0A"/>
                </a:solidFill>
                <a:latin typeface="Yu Gothic"/>
              </a:rPr>
              <a:t>連続体・低Reでは Stokes、希薄化が入ると Cunningham slip、連続体・高Reでは Schiller–Naumann、自由分子側では Epstein を使う。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3703320"/>
            <a:ext cx="3657600" cy="21488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48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1800" b="1">
                <a:solidFill>
                  <a:srgbClr val="348E3E"/>
                </a:solidFill>
                <a:latin typeface="Yu Gothic"/>
              </a:rPr>
              <a:t>数値計算上の意味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44968" y="4123944"/>
            <a:ext cx="3438144" cy="18288"/>
          </a:xfrm>
          <a:prstGeom prst="rect">
            <a:avLst/>
          </a:prstGeom>
          <a:solidFill>
            <a:srgbClr val="348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4233672"/>
            <a:ext cx="3438144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0">
                <a:solidFill>
                  <a:srgbClr val="0A0A0A"/>
                </a:solidFill>
                <a:latin typeface="Yu Gothic"/>
              </a:rPr>
              <a:t>τ_eff の選択は粒子応答時間を直接変え、軌道・壁到達時間・付着位置に効く。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0">
                <a:solidFill>
                  <a:srgbClr val="0A0A0A"/>
                </a:solidFill>
                <a:latin typeface="Yu Gothic"/>
              </a:rPr>
              <a:t>COMSOL比較では、圧力・粒径・ガス物性・速度差のわずかな違いが drag law 選択差を生むため、条件固定が重要。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4652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Yu Gothic"/>
              </a:rPr>
              <a:t>partcle_sim / sim_rev2 technical decision deck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6DA3"/>
                </a:solidFill>
                <a:latin typeface="Yu Gothic"/>
              </a:rPr>
              <a:t>追加: 場補間・valid mask・壁近傍サポート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96112"/>
            <a:ext cx="11064240" cy="27432"/>
          </a:xfrm>
          <a:prstGeom prst="rect">
            <a:avLst/>
          </a:prstGeom>
          <a:solidFill>
            <a:srgbClr val="006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98755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A0A0A"/>
                </a:solidFill>
                <a:latin typeface="Yu Gothic"/>
              </a:rPr>
              <a:t>COMSOLと一致しにくい代表要因の一つは、壁近傍での場サンプリングの差</a:t>
            </a:r>
          </a:p>
        </p:txBody>
      </p:sp>
      <p:pic>
        <p:nvPicPr>
          <p:cNvPr id="5" name="Picture 4" descr="a_clean_technical_infographic_slide_diagram_whi_2_batch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298448"/>
            <a:ext cx="7269480" cy="47091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955279" y="1417320"/>
            <a:ext cx="3246120" cy="22402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6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1800" b="1">
                <a:solidFill>
                  <a:srgbClr val="006DA3"/>
                </a:solidFill>
                <a:latin typeface="Yu Gothic"/>
              </a:rPr>
              <a:t>技術ポイント</a:t>
            </a:r>
          </a:p>
        </p:txBody>
      </p:sp>
      <p:sp>
        <p:nvSpPr>
          <p:cNvPr id="7" name="Rectangle 6"/>
          <p:cNvSpPr/>
          <p:nvPr/>
        </p:nvSpPr>
        <p:spPr>
          <a:xfrm>
            <a:off x="8065007" y="1837944"/>
            <a:ext cx="3026664" cy="18288"/>
          </a:xfrm>
          <a:prstGeom prst="rect">
            <a:avLst/>
          </a:prstGeom>
          <a:solidFill>
            <a:srgbClr val="006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65007" y="1947672"/>
            <a:ext cx="3026664" cy="1618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0">
                <a:solidFill>
                  <a:srgbClr val="0A0A0A"/>
                </a:solidFill>
                <a:latin typeface="Yu Gothic"/>
              </a:rPr>
              <a:t>Regular grid では bilinear / trilinear 補間、triangle mesh では barycentric 補間で φ(x) を評価する。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0">
                <a:solidFill>
                  <a:srgbClr val="0A0A0A"/>
                </a:solidFill>
                <a:latin typeface="Yu Gothic"/>
              </a:rPr>
              <a:t>時間依存場では空間補間に加えて time interpolation が必要になる。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3794760"/>
            <a:ext cx="3246120" cy="2057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98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1800" b="1">
                <a:solidFill>
                  <a:srgbClr val="E98014"/>
                </a:solidFill>
                <a:latin typeface="Yu Gothic"/>
              </a:rPr>
              <a:t>COMSOL parityへの影響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5007" y="4215384"/>
            <a:ext cx="3026664" cy="18288"/>
          </a:xfrm>
          <a:prstGeom prst="rect">
            <a:avLst/>
          </a:prstGeom>
          <a:solidFill>
            <a:srgbClr val="E98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65007" y="4325112"/>
            <a:ext cx="3026664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0">
                <a:solidFill>
                  <a:srgbClr val="0A0A0A"/>
                </a:solidFill>
                <a:latin typeface="Yu Gothic"/>
              </a:rPr>
              <a:t>壁近傍で support が不足すると、補間誤差・外挿・hard invalid stop が発生しうる。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0">
                <a:solidFill>
                  <a:srgbClr val="0A0A0A"/>
                </a:solidFill>
                <a:latin typeface="Yu Gothic"/>
              </a:rPr>
              <a:t>valid mask, support fraction, near-wall rule を比較時に明記することが重要。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4652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Yu Gothic"/>
              </a:rPr>
              <a:t>partcle_sim / sim_rev2 technical decision deck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6DA3"/>
                </a:solidFill>
                <a:latin typeface="Yu Gothic"/>
              </a:rPr>
              <a:t>追加: 境界衝突処理と壁モデル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96112"/>
            <a:ext cx="11064240" cy="27432"/>
          </a:xfrm>
          <a:prstGeom prst="rect">
            <a:avLst/>
          </a:prstGeom>
          <a:solidFill>
            <a:srgbClr val="006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98755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A0A0A"/>
                </a:solidFill>
                <a:latin typeface="Yu Gothic"/>
              </a:rPr>
              <a:t>壁条件の一致は、COMSOLとの壁イベント比較・付着比較の前提条件</a:t>
            </a:r>
          </a:p>
        </p:txBody>
      </p:sp>
      <p:pic>
        <p:nvPicPr>
          <p:cNvPr id="5" name="Picture 4" descr="a_clean_technical_infographic_slide_style_diagram_3_batch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280160"/>
            <a:ext cx="7315200" cy="47091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046720" y="1417320"/>
            <a:ext cx="3154680" cy="21488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9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1800" b="1">
                <a:solidFill>
                  <a:srgbClr val="1964B4"/>
                </a:solidFill>
                <a:latin typeface="Yu Gothic"/>
              </a:rPr>
              <a:t>専門家向けポイント</a:t>
            </a:r>
          </a:p>
        </p:txBody>
      </p:sp>
      <p:sp>
        <p:nvSpPr>
          <p:cNvPr id="7" name="Rectangle 6"/>
          <p:cNvSpPr/>
          <p:nvPr/>
        </p:nvSpPr>
        <p:spPr>
          <a:xfrm>
            <a:off x="8156448" y="1837944"/>
            <a:ext cx="2935224" cy="18288"/>
          </a:xfrm>
          <a:prstGeom prst="rect">
            <a:avLst/>
          </a:prstGeom>
          <a:solidFill>
            <a:srgbClr val="19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56448" y="1947672"/>
            <a:ext cx="2935224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0">
                <a:solidFill>
                  <a:srgbClr val="0A0A0A"/>
                </a:solidFill>
                <a:latin typeface="Yu Gothic"/>
              </a:rPr>
              <a:t>specular では速度を法線・接線成分に分解し、v_out = v_t - e_n v_n n で更新する。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0">
                <a:solidFill>
                  <a:srgbClr val="0A0A0A"/>
                </a:solidFill>
                <a:latin typeface="Yu Gothic"/>
              </a:rPr>
              <a:t>sticking criterion は v_crit や確率則で与えられ、付着・反射境界の差が堆積分布に直結する。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703320"/>
            <a:ext cx="3154680" cy="21488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48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1800" b="1">
                <a:solidFill>
                  <a:srgbClr val="348E3E"/>
                </a:solidFill>
                <a:latin typeface="Yu Gothic"/>
              </a:rPr>
              <a:t>比較で見るべき出力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56448" y="4123944"/>
            <a:ext cx="2935224" cy="18288"/>
          </a:xfrm>
          <a:prstGeom prst="rect">
            <a:avLst/>
          </a:prstGeom>
          <a:solidFill>
            <a:srgbClr val="348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56448" y="4233672"/>
            <a:ext cx="2935224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0">
                <a:solidFill>
                  <a:srgbClr val="0A0A0A"/>
                </a:solidFill>
                <a:latin typeface="Yu Gothic"/>
              </a:rPr>
              <a:t>hit time, hit position, boundary ID, wall mode, impact speed, incident angle をログ化する。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0">
                <a:solidFill>
                  <a:srgbClr val="0A0A0A"/>
                </a:solidFill>
                <a:latin typeface="Yu Gothic"/>
              </a:rPr>
              <a:t>boundary map と wall-law assignment が一致しないと、COMSOL比較は見かけ上一致しても意味を持ちにくい。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4652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Yu Gothic"/>
              </a:rPr>
              <a:t>partcle_sim / sim_rev2 technical decision deck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6DA3"/>
                </a:solidFill>
                <a:latin typeface="Yu Gothic"/>
              </a:rPr>
              <a:t>追加: ETD / ETD2 積分の技術的意味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96112"/>
            <a:ext cx="11064240" cy="27432"/>
          </a:xfrm>
          <a:prstGeom prst="rect">
            <a:avLst/>
          </a:prstGeom>
          <a:solidFill>
            <a:srgbClr val="006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98755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A0A0A"/>
                </a:solidFill>
                <a:latin typeface="Yu Gothic"/>
              </a:rPr>
              <a:t>抗力支配の stiff な粒子運動では、指数積分が精度・安定性に有利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166360" cy="502920"/>
          </a:xfrm>
          <a:prstGeom prst="roundRect">
            <a:avLst/>
          </a:prstGeom>
          <a:solidFill>
            <a:srgbClr val="F5FAFF"/>
          </a:solidFill>
          <a:ln w="13970">
            <a:solidFill>
              <a:srgbClr val="19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1964B4"/>
                </a:solidFill>
                <a:latin typeface="Yu Gothic"/>
              </a:rPr>
              <a:t>支配系:  dv/dt = (u-v)/τ + 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5166360" cy="1097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0">
                <a:solidFill>
                  <a:srgbClr val="0A0A0A"/>
                </a:solidFill>
                <a:latin typeface="Yu Gothic"/>
              </a:rPr>
              <a:t>c = u + τ a
vₙ₊₁ = c + (vₙ - c) exp(-Δt / τ)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337560"/>
            <a:ext cx="5166360" cy="12344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0">
                <a:solidFill>
                  <a:srgbClr val="0A0A0A"/>
                </a:solidFill>
                <a:latin typeface="Yu Gothic"/>
              </a:rPr>
              <a:t>xₙ₊₁ = xₙ + c Δt + τ (vₙ - c) [1 - exp(-Δt / τ)]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800600"/>
            <a:ext cx="5212080" cy="10515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6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1800" b="1">
                <a:solidFill>
                  <a:srgbClr val="006DA3"/>
                </a:solidFill>
                <a:latin typeface="Yu Gothic"/>
              </a:rPr>
              <a:t>解釈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5221224"/>
            <a:ext cx="4992624" cy="18288"/>
          </a:xfrm>
          <a:prstGeom prst="rect">
            <a:avLst/>
          </a:prstGeom>
          <a:solidFill>
            <a:srgbClr val="006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5330952"/>
            <a:ext cx="499262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0">
                <a:solidFill>
                  <a:srgbClr val="0A0A0A"/>
                </a:solidFill>
                <a:latin typeface="Yu Gothic"/>
              </a:rPr>
              <a:t>Δt ≫ τ の場合でも、単純Eulerより安定に drag relaxation を扱いやすい。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17320"/>
            <a:ext cx="4572000" cy="19659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48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1800" b="1">
                <a:solidFill>
                  <a:srgbClr val="348E3E"/>
                </a:solidFill>
                <a:latin typeface="Yu Gothic"/>
              </a:rPr>
              <a:t>ETD2 の考え方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81928" y="1837944"/>
            <a:ext cx="4352544" cy="18288"/>
          </a:xfrm>
          <a:prstGeom prst="rect">
            <a:avLst/>
          </a:prstGeom>
          <a:solidFill>
            <a:srgbClr val="348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928" y="1947672"/>
            <a:ext cx="4352544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0">
                <a:solidFill>
                  <a:srgbClr val="0A0A0A"/>
                </a:solidFill>
                <a:latin typeface="Yu Gothic"/>
              </a:rPr>
              <a:t>中点 t_n+1/2 で u, a, τ を再サンプリングし、局所的な場変化を取り込む。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0">
                <a:solidFill>
                  <a:srgbClr val="0A0A0A"/>
                </a:solidFill>
                <a:latin typeface="Yu Gothic"/>
              </a:rPr>
              <a:t>空間変化が強い電場・流れ場や壁近傍で、1段ETDより高精度になりやすい。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611880"/>
            <a:ext cx="4572000" cy="22402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98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1800" b="1">
                <a:solidFill>
                  <a:srgbClr val="E98014"/>
                </a:solidFill>
                <a:latin typeface="Yu Gothic"/>
              </a:rPr>
              <a:t>実務上の判断軸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81928" y="4032504"/>
            <a:ext cx="4352544" cy="18288"/>
          </a:xfrm>
          <a:prstGeom prst="rect">
            <a:avLst/>
          </a:prstGeom>
          <a:solidFill>
            <a:srgbClr val="E98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4142232"/>
            <a:ext cx="4352544" cy="1618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0">
                <a:solidFill>
                  <a:srgbClr val="0A0A0A"/>
                </a:solidFill>
                <a:latin typeface="Yu Gothic"/>
              </a:rPr>
              <a:t>drag_relaxation: 最も簡便。単純な抗力支配ケース向け。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0">
                <a:solidFill>
                  <a:srgbClr val="0A0A0A"/>
                </a:solidFill>
                <a:latin typeface="Yu Gothic"/>
              </a:rPr>
              <a:t>ETD: 抗力支配を厳密解に近い形で進める基本選択。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0">
                <a:solidFill>
                  <a:srgbClr val="0A0A0A"/>
                </a:solidFill>
                <a:latin typeface="Yu Gothic"/>
              </a:rPr>
              <a:t>ETD2: 計算コストは増えるが、COMSOL parity を詰める際に有力。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4652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Yu Gothic"/>
              </a:rPr>
              <a:t>partcle_sim / sim_rev2 technical decision deck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6DA3"/>
                </a:solidFill>
                <a:latin typeface="Yu Gothic"/>
              </a:rPr>
              <a:t>追加: プラズマなし / ありでのモデリング差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96112"/>
            <a:ext cx="11064240" cy="27432"/>
          </a:xfrm>
          <a:prstGeom prst="rect">
            <a:avLst/>
          </a:prstGeom>
          <a:solidFill>
            <a:srgbClr val="006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98755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A0A0A"/>
                </a:solidFill>
                <a:latin typeface="Yu Gothic"/>
              </a:rPr>
              <a:t>COMSOLユーザーが理解しやすいよう、force inventory と必要入力の違いを整理</a:t>
            </a:r>
          </a:p>
        </p:txBody>
      </p:sp>
      <p:pic>
        <p:nvPicPr>
          <p:cNvPr id="5" name="Picture 4" descr="a_clean_technical_presentation_slide_infographic_1_batch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325880"/>
            <a:ext cx="745236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092440" y="1444752"/>
            <a:ext cx="3063240" cy="21031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9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1800" b="1">
                <a:solidFill>
                  <a:srgbClr val="1964B4"/>
                </a:solidFill>
                <a:latin typeface="Yu Gothic"/>
              </a:rPr>
              <a:t>専門家向け含意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2168" y="1865376"/>
            <a:ext cx="2843784" cy="18288"/>
          </a:xfrm>
          <a:prstGeom prst="rect">
            <a:avLst/>
          </a:prstGeom>
          <a:solidFill>
            <a:srgbClr val="19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02168" y="1975104"/>
            <a:ext cx="2843784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0A0A0A"/>
                </a:solidFill>
                <a:latin typeface="Yu Gothic"/>
              </a:rPr>
              <a:t>neutral case では drag, gravity, Brownian, thermo が主、plasma case では qE, DEP, ion drag, dynamic charge が追加される。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0A0A0A"/>
                </a:solidFill>
                <a:latin typeface="Yu Gothic"/>
              </a:rPr>
              <a:t>同じ chamber geometry でも plasma on/off で必要場データと境界近傍の支配力が変わる。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3685032"/>
            <a:ext cx="3063240" cy="21488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98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1800" b="1">
                <a:solidFill>
                  <a:srgbClr val="E98014"/>
                </a:solidFill>
                <a:latin typeface="Yu Gothic"/>
              </a:rPr>
              <a:t>COMSOL同等化の難所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02168" y="4105656"/>
            <a:ext cx="2843784" cy="18288"/>
          </a:xfrm>
          <a:prstGeom prst="rect">
            <a:avLst/>
          </a:prstGeom>
          <a:solidFill>
            <a:srgbClr val="E98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2168" y="4215384"/>
            <a:ext cx="2843784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0A0A0A"/>
                </a:solidFill>
                <a:latin typeface="Yu Gothic"/>
              </a:rPr>
              <a:t>sheath 近傍の急峻な E 場と near-wall offset の扱いが結果差を増幅しやすい。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0A0A0A"/>
                </a:solidFill>
                <a:latin typeface="Yu Gothic"/>
              </a:rPr>
              <a:t>電荷モデル q(t), wall law, force inventory を固定しないと比較基盤が崩れやすい。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4652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Yu Gothic"/>
              </a:rPr>
              <a:t>partcle_sim / sim_rev2 technical decision deck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6DA3"/>
                </a:solidFill>
                <a:latin typeface="Yu Gothic"/>
              </a:rPr>
              <a:t>追加: charge と追加力場の数式整理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96112"/>
            <a:ext cx="11064240" cy="27432"/>
          </a:xfrm>
          <a:prstGeom prst="rect">
            <a:avLst/>
          </a:prstGeom>
          <a:solidFill>
            <a:srgbClr val="006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98755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A0A0A"/>
                </a:solidFill>
                <a:latin typeface="Yu Gothic"/>
              </a:rPr>
              <a:t>力モデルごとに必要な入力場と支配条件を見える化</a:t>
            </a:r>
          </a:p>
        </p:txBody>
      </p:sp>
      <p:pic>
        <p:nvPicPr>
          <p:cNvPr id="5" name="Picture 4" descr="a_clean_technical_presentation_slide_infographic_2_batch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7635240" cy="47548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79" y="1371600"/>
            <a:ext cx="2926080" cy="21945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48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1800" b="1">
                <a:solidFill>
                  <a:srgbClr val="348E3E"/>
                </a:solidFill>
                <a:latin typeface="Yu Gothic"/>
              </a:rPr>
              <a:t>ここで示したいこと</a:t>
            </a:r>
          </a:p>
        </p:txBody>
      </p:sp>
      <p:sp>
        <p:nvSpPr>
          <p:cNvPr id="7" name="Rectangle 6"/>
          <p:cNvSpPr/>
          <p:nvPr/>
        </p:nvSpPr>
        <p:spPr>
          <a:xfrm>
            <a:off x="8293607" y="1792224"/>
            <a:ext cx="2706624" cy="18288"/>
          </a:xfrm>
          <a:prstGeom prst="rect">
            <a:avLst/>
          </a:prstGeom>
          <a:solidFill>
            <a:srgbClr val="348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93607" y="1901952"/>
            <a:ext cx="2706624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0A0A0A"/>
                </a:solidFill>
                <a:latin typeface="Yu Gothic"/>
              </a:rPr>
              <a:t>Electric, DEP, Brownian, thermophoresis, lift / PG / VM を独立にON/OFF可能な設計は、本レポの重要な独自性である。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0A0A0A"/>
                </a:solidFill>
                <a:latin typeface="Yu Gothic"/>
              </a:rPr>
              <a:t>対象ケースに合わせて「必要な力だけ」を有効化できるため、過剰な仮定を避けられる。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3703320"/>
            <a:ext cx="2926080" cy="21488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98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1800" b="1">
                <a:solidFill>
                  <a:srgbClr val="E98014"/>
                </a:solidFill>
                <a:latin typeface="Yu Gothic"/>
              </a:rPr>
              <a:t>実務上の使い方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93607" y="4123944"/>
            <a:ext cx="2706624" cy="18288"/>
          </a:xfrm>
          <a:prstGeom prst="rect">
            <a:avLst/>
          </a:prstGeom>
          <a:solidFill>
            <a:srgbClr val="E98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93607" y="4233672"/>
            <a:ext cx="2706624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0A0A0A"/>
                </a:solidFill>
                <a:latin typeface="Yu Gothic"/>
              </a:rPr>
              <a:t>まず drag + gravity で基準ケースを作り、次に electric や thermo を追加して寄与差を確認する。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0A0A0A"/>
                </a:solidFill>
                <a:latin typeface="Yu Gothic"/>
              </a:rPr>
              <a:t>COMSOL parity では、入力場の有無と force inventory 一致を必ずログに残す。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4652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Yu Gothic"/>
              </a:rPr>
              <a:t>partcle_sim / sim_rev2 technical decision deck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6DA3"/>
                </a:solidFill>
                <a:latin typeface="Yu Gothic"/>
              </a:rPr>
              <a:t>追加: 粒子初期条件・source law・release の解き方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96112"/>
            <a:ext cx="11064240" cy="27432"/>
          </a:xfrm>
          <a:prstGeom prst="rect">
            <a:avLst/>
          </a:prstGeom>
          <a:solidFill>
            <a:srgbClr val="006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98755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A0A0A"/>
                </a:solidFill>
                <a:latin typeface="Yu Gothic"/>
              </a:rPr>
              <a:t>初期位置・初速・放出時刻・粒径・電荷の与え方が軌道差の大きな要因</a:t>
            </a:r>
          </a:p>
        </p:txBody>
      </p:sp>
      <p:pic>
        <p:nvPicPr>
          <p:cNvPr id="5" name="Picture 4" descr="a_clean_technical_presentation_slide_infographic_3_batch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298448"/>
            <a:ext cx="7406640" cy="46634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028431" y="1417320"/>
            <a:ext cx="3154680" cy="21488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9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1800" b="1">
                <a:solidFill>
                  <a:srgbClr val="1964B4"/>
                </a:solidFill>
                <a:latin typeface="Yu Gothic"/>
              </a:rPr>
              <a:t>解法のポイント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59" y="1837944"/>
            <a:ext cx="2935224" cy="18288"/>
          </a:xfrm>
          <a:prstGeom prst="rect">
            <a:avLst/>
          </a:prstGeom>
          <a:solidFill>
            <a:srgbClr val="19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59" y="1947672"/>
            <a:ext cx="2935224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0A0A0A"/>
                </a:solidFill>
                <a:latin typeface="Yu Gothic"/>
              </a:rPr>
              <a:t>surface emission では x0 = xs + εn により初期点を壁から離し、v0 = vn n + vt1 t1 + vt2 t2 の形で初速を与える。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0A0A0A"/>
                </a:solidFill>
                <a:latin typeface="Yu Gothic"/>
              </a:rPr>
              <a:t>release time, particle size, charge のサンプリング分布を明示することで、実験・COMSOL・本コードの比較が容易になる。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1" y="3703320"/>
            <a:ext cx="3154680" cy="21488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98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1800" b="1">
                <a:solidFill>
                  <a:srgbClr val="E98014"/>
                </a:solidFill>
                <a:latin typeface="Yu Gothic"/>
              </a:rPr>
              <a:t>比較で要注意の項目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59" y="4123944"/>
            <a:ext cx="2935224" cy="18288"/>
          </a:xfrm>
          <a:prstGeom prst="rect">
            <a:avLst/>
          </a:prstGeom>
          <a:solidFill>
            <a:srgbClr val="E98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59" y="4233672"/>
            <a:ext cx="2935224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0A0A0A"/>
                </a:solidFill>
                <a:latin typeface="Yu Gothic"/>
              </a:rPr>
              <a:t>release順序、乱数seed、source ID を固定しないと再現性が崩れる。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0A0A0A"/>
                </a:solidFill>
                <a:latin typeface="Yu Gothic"/>
              </a:rPr>
              <a:t>初期点が invalid mask に入っていないか、部品ID・壁面IDとの対応が妥当かを確認する。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4652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Yu Gothic"/>
              </a:rPr>
              <a:t>partcle_sim / sim_rev2 technical decision deck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6DA3"/>
                </a:solidFill>
                <a:latin typeface="Yu Gothic"/>
              </a:rPr>
              <a:t>追加: 境界認識・壁近傍ソルバー・衝突時刻の具体化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96112"/>
            <a:ext cx="11064240" cy="27432"/>
          </a:xfrm>
          <a:prstGeom prst="rect">
            <a:avLst/>
          </a:prstGeom>
          <a:solidFill>
            <a:srgbClr val="006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98755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A0A0A"/>
                </a:solidFill>
                <a:latin typeface="Yu Gothic"/>
              </a:rPr>
              <a:t>壁近傍処理は COMSOL と差が出やすい最重要要素の一つ</a:t>
            </a:r>
          </a:p>
        </p:txBody>
      </p:sp>
      <p:pic>
        <p:nvPicPr>
          <p:cNvPr id="5" name="Picture 4" descr="a_clean_technical_presentation_slide_infographic_4_batch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170432"/>
            <a:ext cx="7818120" cy="49834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302752" y="1325880"/>
            <a:ext cx="2788920" cy="23317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48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1800" b="1">
                <a:solidFill>
                  <a:srgbClr val="348E3E"/>
                </a:solidFill>
                <a:latin typeface="Yu Gothic"/>
              </a:rPr>
              <a:t>数値的な中核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0" y="1746504"/>
            <a:ext cx="2569464" cy="18288"/>
          </a:xfrm>
          <a:prstGeom prst="rect">
            <a:avLst/>
          </a:prstGeom>
          <a:solidFill>
            <a:srgbClr val="348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856232"/>
            <a:ext cx="2569464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0A0A0A"/>
                </a:solidFill>
                <a:latin typeface="Yu Gothic"/>
              </a:rPr>
              <a:t>候補移動 Δx に対し x(t)=xn+sΔx, s∈[0,1] を用いて最小 s_hit を取り、Δt_hit と Δt_rem に分解する。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0A0A0A"/>
                </a:solidFill>
                <a:latin typeface="Yu Gothic"/>
              </a:rPr>
              <a:t>反射後は x_new = x_hit + εn で再配置し、残り時間で再積分する。multi-hit の再帰処理も重要。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02752" y="3794760"/>
            <a:ext cx="2788920" cy="21488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98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1800" b="1">
                <a:solidFill>
                  <a:srgbClr val="E98014"/>
                </a:solidFill>
                <a:latin typeface="Yu Gothic"/>
              </a:rPr>
              <a:t>専門家を納得させる観点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0" y="4215384"/>
            <a:ext cx="2569464" cy="18288"/>
          </a:xfrm>
          <a:prstGeom prst="rect">
            <a:avLst/>
          </a:prstGeom>
          <a:solidFill>
            <a:srgbClr val="E98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4325112"/>
            <a:ext cx="2569464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0A0A0A"/>
                </a:solidFill>
                <a:latin typeface="Yu Gothic"/>
              </a:rPr>
              <a:t>boundary map, wall-law assignment, near-wall offset, specular / diffuse / stick 条件を明示的に固定する。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0A0A0A"/>
                </a:solidFill>
                <a:latin typeface="Yu Gothic"/>
              </a:rPr>
              <a:t>hit time, hit position, boundary ID, wall mode, impact speed, incident angle のログを残す。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4652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Yu Gothic"/>
              </a:rPr>
              <a:t>partcle_sim / sim_rev2 technical decision deck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6DA3"/>
                </a:solidFill>
                <a:latin typeface="Yu Gothic"/>
              </a:rPr>
              <a:t>追加: 数値計算の工夫と COMSOL 同等化の実務ポイント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96112"/>
            <a:ext cx="11064240" cy="27432"/>
          </a:xfrm>
          <a:prstGeom prst="rect">
            <a:avLst/>
          </a:prstGeom>
          <a:solidFill>
            <a:srgbClr val="006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98755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A0A0A"/>
                </a:solidFill>
                <a:latin typeface="Yu Gothic"/>
              </a:rPr>
              <a:t>積分安定化・補間整合・再現性・プラズマ特有難所をまとめて整理</a:t>
            </a:r>
          </a:p>
        </p:txBody>
      </p:sp>
      <p:pic>
        <p:nvPicPr>
          <p:cNvPr id="5" name="Picture 4" descr="a_clean_technical_presentation_slide_infographic_5_batch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216152"/>
            <a:ext cx="7818120" cy="48006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75320" y="1371600"/>
            <a:ext cx="2834640" cy="21945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9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1800" b="1">
                <a:solidFill>
                  <a:srgbClr val="1964B4"/>
                </a:solidFill>
                <a:latin typeface="Yu Gothic"/>
              </a:rPr>
              <a:t>数値計算での工夫</a:t>
            </a:r>
          </a:p>
        </p:txBody>
      </p:sp>
      <p:sp>
        <p:nvSpPr>
          <p:cNvPr id="7" name="Rectangle 6"/>
          <p:cNvSpPr/>
          <p:nvPr/>
        </p:nvSpPr>
        <p:spPr>
          <a:xfrm>
            <a:off x="8385048" y="1792224"/>
            <a:ext cx="2615184" cy="18288"/>
          </a:xfrm>
          <a:prstGeom prst="rect">
            <a:avLst/>
          </a:prstGeom>
          <a:solidFill>
            <a:srgbClr val="19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5048" y="1901952"/>
            <a:ext cx="2615184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0A0A0A"/>
                </a:solidFill>
                <a:latin typeface="Yu Gothic"/>
              </a:rPr>
              <a:t>ETD / ETD2, substepping, valid mask, support fraction, regular grid / triangle mesh backend の切替が安定性と精度を支える。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0A0A0A"/>
                </a:solidFill>
                <a:latin typeface="Yu Gothic"/>
              </a:rPr>
              <a:t>Δt ≲ min(τ_eff, Δx/|v|) を一つの指針とし、drag が stiff な場合は半陰的・指数積分を優先する。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3749039"/>
            <a:ext cx="2834640" cy="21488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98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1800" b="1">
                <a:solidFill>
                  <a:srgbClr val="E98014"/>
                </a:solidFill>
                <a:latin typeface="Yu Gothic"/>
              </a:rPr>
              <a:t>COMSOL parity の実務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85048" y="4169663"/>
            <a:ext cx="2615184" cy="18288"/>
          </a:xfrm>
          <a:prstGeom prst="rect">
            <a:avLst/>
          </a:prstGeom>
          <a:solidFill>
            <a:srgbClr val="E98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5048" y="4279391"/>
            <a:ext cx="2615184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0A0A0A"/>
                </a:solidFill>
                <a:latin typeface="Yu Gothic"/>
              </a:rPr>
              <a:t>入力契約、単位・座標、force inventory、boundary ID / wall law、release seed を固定し、中間診断CSV/JSONを標準化する。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0A0A0A"/>
                </a:solidFill>
                <a:latin typeface="Yu Gothic"/>
              </a:rPr>
              <a:t>プラズマケースでは dynamic charge, sheath field, E場時間変動, ion drag を重点検証する。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4652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Yu Gothic"/>
              </a:rPr>
              <a:t>partcle_sim / sim_rev2 technical decision deck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6DA3"/>
                </a:solidFill>
                <a:latin typeface="Yu Gothic"/>
              </a:rPr>
              <a:t>追加: 処理区分と式・実装・診断の対応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96112"/>
            <a:ext cx="11064240" cy="27432"/>
          </a:xfrm>
          <a:prstGeom prst="rect">
            <a:avLst/>
          </a:prstGeom>
          <a:solidFill>
            <a:srgbClr val="006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98755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A0A0A"/>
                </a:solidFill>
                <a:latin typeface="Yu Gothic"/>
              </a:rPr>
              <a:t>専門家がレビューしやすいよう、処理区分ごとに方程式・実装論点・出力を整理</a:t>
            </a:r>
          </a:p>
        </p:txBody>
      </p:sp>
      <p:pic>
        <p:nvPicPr>
          <p:cNvPr id="5" name="Picture 4" descr="01_processing_equation_implementation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7818120" cy="48006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394192" y="1508760"/>
            <a:ext cx="2880360" cy="4297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9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1700" b="1">
                <a:solidFill>
                  <a:srgbClr val="1964B4"/>
                </a:solidFill>
                <a:latin typeface="Yu Gothic"/>
              </a:rPr>
              <a:t>この図の読み方</a:t>
            </a:r>
          </a:p>
        </p:txBody>
      </p:sp>
      <p:sp>
        <p:nvSpPr>
          <p:cNvPr id="7" name="Rectangle 6"/>
          <p:cNvSpPr/>
          <p:nvPr/>
        </p:nvSpPr>
        <p:spPr>
          <a:xfrm>
            <a:off x="8503920" y="1901952"/>
            <a:ext cx="2660904" cy="18288"/>
          </a:xfrm>
          <a:prstGeom prst="rect">
            <a:avLst/>
          </a:prstGeom>
          <a:solidFill>
            <a:srgbClr val="19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0" y="2002536"/>
            <a:ext cx="2660904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0A0A0A"/>
                </a:solidFill>
                <a:latin typeface="Yu Gothic"/>
              </a:rPr>
              <a:t>各処理がブラックボックス化せず、どの式がどの診断に対応するか追える。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0A0A0A"/>
                </a:solidFill>
                <a:latin typeface="Yu Gothic"/>
              </a:rPr>
              <a:t>COMSOL差分は field / force / integration / boundary / source の処理区分へ分解できる。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Yu Gothic"/>
              </a:rPr>
              <a:t>partcle_sim / sim_rev2 technical decision deck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6DA3"/>
                </a:solidFill>
                <a:latin typeface="Yu Gothic"/>
              </a:rPr>
              <a:t>追加: COMSOL faithful 比較の段階設計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96112"/>
            <a:ext cx="11064240" cy="27432"/>
          </a:xfrm>
          <a:prstGeom prst="rect">
            <a:avLst/>
          </a:prstGeom>
          <a:solidFill>
            <a:srgbClr val="006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98755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A0A0A"/>
                </a:solidFill>
                <a:latin typeface="Yu Gothic"/>
              </a:rPr>
              <a:t>release・場・加速度・軌道・境界イベントを順に照合し、差分原因を潰す</a:t>
            </a:r>
          </a:p>
        </p:txBody>
      </p:sp>
      <p:pic>
        <p:nvPicPr>
          <p:cNvPr id="5" name="Picture 4" descr="02_comsol_faithful_comparison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7818120" cy="48006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394192" y="1508760"/>
            <a:ext cx="2880360" cy="4297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48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1700" b="1">
                <a:solidFill>
                  <a:srgbClr val="348E3E"/>
                </a:solidFill>
                <a:latin typeface="Yu Gothic"/>
              </a:rPr>
              <a:t>この図の読み方</a:t>
            </a:r>
          </a:p>
        </p:txBody>
      </p:sp>
      <p:sp>
        <p:nvSpPr>
          <p:cNvPr id="7" name="Rectangle 6"/>
          <p:cNvSpPr/>
          <p:nvPr/>
        </p:nvSpPr>
        <p:spPr>
          <a:xfrm>
            <a:off x="8503920" y="1901952"/>
            <a:ext cx="2660904" cy="18288"/>
          </a:xfrm>
          <a:prstGeom prst="rect">
            <a:avLst/>
          </a:prstGeom>
          <a:solidFill>
            <a:srgbClr val="348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0" y="2002536"/>
            <a:ext cx="2660904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0A0A0A"/>
                </a:solidFill>
                <a:latin typeface="Yu Gothic"/>
              </a:rPr>
              <a:t>結果の見た目だけでなく、比較契約・中間量・壁イベントを固定して評価する。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0A0A0A"/>
                </a:solidFill>
                <a:latin typeface="Yu Gothic"/>
              </a:rPr>
              <a:t>field residual → acceleration residual → trajectory residual → boundary event の順で原因を絞る。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Yu Gothic"/>
              </a:rPr>
              <a:t>partcle_sim / sim_rev2 technical decision deck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6DA3"/>
                </a:solidFill>
                <a:latin typeface="Yu Gothic"/>
              </a:rPr>
              <a:t>追加: 入力契約と検証ゲート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96112"/>
            <a:ext cx="11064240" cy="27432"/>
          </a:xfrm>
          <a:prstGeom prst="rect">
            <a:avLst/>
          </a:prstGeom>
          <a:solidFill>
            <a:srgbClr val="006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98755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A0A0A"/>
                </a:solidFill>
                <a:latin typeface="Yu Gothic"/>
              </a:rPr>
              <a:t>入力ミスや単位差をsolver側で隠さず、実行前にfail-fastで検出する</a:t>
            </a:r>
          </a:p>
        </p:txBody>
      </p:sp>
      <p:pic>
        <p:nvPicPr>
          <p:cNvPr id="5" name="Picture 4" descr="03_input_contract_validation_g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7818120" cy="48006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394192" y="1508760"/>
            <a:ext cx="2880360" cy="4297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98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1700" b="1">
                <a:solidFill>
                  <a:srgbClr val="E98014"/>
                </a:solidFill>
                <a:latin typeface="Yu Gothic"/>
              </a:rPr>
              <a:t>この図の読み方</a:t>
            </a:r>
          </a:p>
        </p:txBody>
      </p:sp>
      <p:sp>
        <p:nvSpPr>
          <p:cNvPr id="7" name="Rectangle 6"/>
          <p:cNvSpPr/>
          <p:nvPr/>
        </p:nvSpPr>
        <p:spPr>
          <a:xfrm>
            <a:off x="8503920" y="1901952"/>
            <a:ext cx="2660904" cy="18288"/>
          </a:xfrm>
          <a:prstGeom prst="rect">
            <a:avLst/>
          </a:prstGeom>
          <a:solidFill>
            <a:srgbClr val="E98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0" y="2002536"/>
            <a:ext cx="2660904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0A0A0A"/>
                </a:solidFill>
                <a:latin typeface="Yu Gothic"/>
              </a:rPr>
              <a:t>座標・単位・場support・force inventory・wall coverage・release条件を実行前に確認する。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0A0A0A"/>
                </a:solidFill>
                <a:latin typeface="Yu Gothic"/>
              </a:rPr>
              <a:t>production run と COMSOL faithful run で検証ポリシーを分けると運用しやすい。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Yu Gothic"/>
              </a:rPr>
              <a:t>partcle_sim / sim_rev2 technical decision deck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6DA3"/>
                </a:solidFill>
                <a:latin typeface="Yu Gothic"/>
              </a:rPr>
              <a:t>追加: 開発コスト・工数をWBSで見る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96112"/>
            <a:ext cx="11064240" cy="27432"/>
          </a:xfrm>
          <a:prstGeom prst="rect">
            <a:avLst/>
          </a:prstGeom>
          <a:solidFill>
            <a:srgbClr val="006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98755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A0A0A"/>
                </a:solidFill>
                <a:latin typeface="Yu Gothic"/>
              </a:rPr>
              <a:t>技術調査・設計・実装・評価・ベンチマークを含む実務コードとして評価する</a:t>
            </a:r>
          </a:p>
        </p:txBody>
      </p:sp>
      <p:pic>
        <p:nvPicPr>
          <p:cNvPr id="5" name="Picture 4" descr="04_development_cost_w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7818120" cy="48006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394192" y="1508760"/>
            <a:ext cx="2880360" cy="4297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9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1700" b="1">
                <a:solidFill>
                  <a:srgbClr val="1964B4"/>
                </a:solidFill>
                <a:latin typeface="Yu Gothic"/>
              </a:rPr>
              <a:t>この図の読み方</a:t>
            </a:r>
          </a:p>
        </p:txBody>
      </p:sp>
      <p:sp>
        <p:nvSpPr>
          <p:cNvPr id="7" name="Rectangle 6"/>
          <p:cNvSpPr/>
          <p:nvPr/>
        </p:nvSpPr>
        <p:spPr>
          <a:xfrm>
            <a:off x="8503920" y="1901952"/>
            <a:ext cx="2660904" cy="18288"/>
          </a:xfrm>
          <a:prstGeom prst="rect">
            <a:avLst/>
          </a:prstGeom>
          <a:solidFill>
            <a:srgbClr val="19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0" y="2002536"/>
            <a:ext cx="2660904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0A0A0A"/>
                </a:solidFill>
                <a:latin typeface="Yu Gothic"/>
              </a:rPr>
              <a:t>現行相当の再実装は 8.8–16.0 人月規模。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0A0A0A"/>
                </a:solidFill>
                <a:latin typeface="Yu Gothic"/>
              </a:rPr>
              <a:t>今後はゼロから作るより、対象ケースで比較精度と受入基準を詰める方が合理的。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Yu Gothic"/>
              </a:rPr>
              <a:t>partcle_sim / sim_rev2 technical decision deck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6DA3"/>
                </a:solidFill>
                <a:latin typeface="Yu Gothic"/>
              </a:rPr>
              <a:t>追加: 必要スキルと役割分担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96112"/>
            <a:ext cx="11064240" cy="27432"/>
          </a:xfrm>
          <a:prstGeom prst="rect">
            <a:avLst/>
          </a:prstGeom>
          <a:solidFill>
            <a:srgbClr val="006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98755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A0A0A"/>
                </a:solidFill>
                <a:latin typeface="Yu Gothic"/>
              </a:rPr>
              <a:t>外注できる実装と、社内で判断すべき物理・実機条件を分ける</a:t>
            </a:r>
          </a:p>
        </p:txBody>
      </p:sp>
      <p:pic>
        <p:nvPicPr>
          <p:cNvPr id="5" name="Picture 4" descr="05_skill_role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7818120" cy="48006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394192" y="1508760"/>
            <a:ext cx="2880360" cy="4297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48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1700" b="1">
                <a:solidFill>
                  <a:srgbClr val="348E3E"/>
                </a:solidFill>
                <a:latin typeface="Yu Gothic"/>
              </a:rPr>
              <a:t>この図の読み方</a:t>
            </a:r>
          </a:p>
        </p:txBody>
      </p:sp>
      <p:sp>
        <p:nvSpPr>
          <p:cNvPr id="7" name="Rectangle 6"/>
          <p:cNvSpPr/>
          <p:nvPr/>
        </p:nvSpPr>
        <p:spPr>
          <a:xfrm>
            <a:off x="8503920" y="1901952"/>
            <a:ext cx="2660904" cy="18288"/>
          </a:xfrm>
          <a:prstGeom prst="rect">
            <a:avLst/>
          </a:prstGeom>
          <a:solidFill>
            <a:srgbClr val="348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0" y="2002536"/>
            <a:ext cx="2660904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0A0A0A"/>
                </a:solidFill>
                <a:latin typeface="Yu Gothic"/>
              </a:rPr>
              <a:t>数値計算・COMSOL・粒子/プラズマ・実機判断が横断するため、単一職能では完結しない。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0A0A0A"/>
                </a:solidFill>
                <a:latin typeface="Yu Gothic"/>
              </a:rPr>
              <a:t>粒子発生条件・壁条件・実機妥当性は社内ドメイン側の判断が不可欠。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Yu Gothic"/>
              </a:rPr>
              <a:t>partcle_sim / sim_rev2 technical decision deck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6DA3"/>
                </a:solidFill>
                <a:latin typeface="Yu Gothic"/>
              </a:rPr>
              <a:t>追加: 既製ライブラリと独自実装の境界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96112"/>
            <a:ext cx="11064240" cy="27432"/>
          </a:xfrm>
          <a:prstGeom prst="rect">
            <a:avLst/>
          </a:prstGeom>
          <a:solidFill>
            <a:srgbClr val="006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98755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A0A0A"/>
                </a:solidFill>
                <a:latin typeface="Yu Gothic"/>
              </a:rPr>
              <a:t>NumPy/Numba/SciPyは基盤であり、価値は物理・数値・境界・比較契約の統合設計にある</a:t>
            </a:r>
          </a:p>
        </p:txBody>
      </p:sp>
      <p:pic>
        <p:nvPicPr>
          <p:cNvPr id="5" name="Picture 4" descr="06_offtheshelf_vs_custom_implem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7818120" cy="48006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394192" y="1508760"/>
            <a:ext cx="2880360" cy="4297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98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1700" b="1">
                <a:solidFill>
                  <a:srgbClr val="E98014"/>
                </a:solidFill>
                <a:latin typeface="Yu Gothic"/>
              </a:rPr>
              <a:t>この図の読み方</a:t>
            </a:r>
          </a:p>
        </p:txBody>
      </p:sp>
      <p:sp>
        <p:nvSpPr>
          <p:cNvPr id="7" name="Rectangle 6"/>
          <p:cNvSpPr/>
          <p:nvPr/>
        </p:nvSpPr>
        <p:spPr>
          <a:xfrm>
            <a:off x="8503920" y="1901952"/>
            <a:ext cx="2660904" cy="18288"/>
          </a:xfrm>
          <a:prstGeom prst="rect">
            <a:avLst/>
          </a:prstGeom>
          <a:solidFill>
            <a:srgbClr val="E98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0" y="2002536"/>
            <a:ext cx="2660904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0A0A0A"/>
                </a:solidFill>
                <a:latin typeface="Yu Gothic"/>
              </a:rPr>
              <a:t>既製ライブラリで得られるのは配列処理・高速化・I/Oなどの部品。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0A0A0A"/>
                </a:solidFill>
                <a:latin typeface="Yu Gothic"/>
              </a:rPr>
              <a:t>本件のコストは、COMSOL比較可能な粒子ソルバーを一貫設計する部分にある。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Yu Gothic"/>
              </a:rPr>
              <a:t>partcle_sim / sim_rev2 technical decision deck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